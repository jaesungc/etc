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64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702" r:id="rId7"/>
    <p:sldId id="259" r:id="rId8"/>
    <p:sldId id="260" r:id="rId9"/>
    <p:sldId id="661" r:id="rId10"/>
    <p:sldId id="682" r:id="rId11"/>
    <p:sldId id="669" r:id="rId12"/>
    <p:sldId id="692" r:id="rId13"/>
    <p:sldId id="679" r:id="rId14"/>
    <p:sldId id="680" r:id="rId15"/>
    <p:sldId id="694" r:id="rId16"/>
    <p:sldId id="268" r:id="rId17"/>
    <p:sldId id="697" r:id="rId18"/>
    <p:sldId id="681" r:id="rId19"/>
    <p:sldId id="688" r:id="rId20"/>
    <p:sldId id="665" r:id="rId21"/>
    <p:sldId id="696" r:id="rId22"/>
    <p:sldId id="273" r:id="rId23"/>
    <p:sldId id="699" r:id="rId24"/>
    <p:sldId id="275" r:id="rId25"/>
    <p:sldId id="704" r:id="rId26"/>
    <p:sldId id="703" r:id="rId27"/>
    <p:sldId id="276" r:id="rId28"/>
  </p:sldIdLst>
  <p:sldSz cx="12192000" cy="6858000"/>
  <p:notesSz cx="10234613" cy="7099300"/>
  <p:embeddedFontLst>
    <p:embeddedFont>
      <p:font typeface="나눔고딕 ExtraBold" panose="020B0600000101010101" charset="-127"/>
      <p:bold r:id="rId31"/>
    </p:embeddedFont>
    <p:embeddedFont>
      <p:font typeface="나눔스퀘어 ExtraBold" panose="020B0600000101010101" pitchFamily="50" charset="-127"/>
      <p:bold r:id="rId32"/>
    </p:embeddedFont>
    <p:embeddedFont>
      <p:font typeface="Cambria Math" panose="02040503050406030204" pitchFamily="18" charset="0"/>
      <p:regular r:id="rId33"/>
    </p:embeddedFont>
    <p:embeddedFont>
      <p:font typeface="Tahoma" panose="020B0604030504040204" pitchFamily="34" charset="0"/>
      <p:regular r:id="rId34"/>
      <p:bold r:id="rId35"/>
    </p:embeddedFont>
    <p:embeddedFont>
      <p:font typeface="나눔스퀘어" panose="020B0600000101010101" pitchFamily="50" charset="-127"/>
      <p:regular r:id="rId36"/>
    </p:embeddedFont>
    <p:embeddedFont>
      <p:font typeface="나눔스퀘어" panose="020B0600000101010101" pitchFamily="50" charset="-127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bers" initials="J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78AD"/>
    <a:srgbClr val="2C3E50"/>
    <a:srgbClr val="FFFFFF"/>
    <a:srgbClr val="5D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42F23-83B7-4907-AD73-88539FDA1768}" v="1" dt="2026-06-18T02:30:26.8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0" autoAdjust="0"/>
    <p:restoredTop sz="90609" autoAdjust="0"/>
  </p:normalViewPr>
  <p:slideViewPr>
    <p:cSldViewPr>
      <p:cViewPr varScale="1">
        <p:scale>
          <a:sx n="100" d="100"/>
          <a:sy n="100" d="100"/>
        </p:scale>
        <p:origin x="7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재성" userId="fd1c8f17-701b-4db9-b0e3-82c8489f73d1" providerId="ADAL" clId="{A2CAFA80-9AF6-49A4-9734-13A70970C4A5}"/>
    <pc:docChg chg="undo custSel modSld">
      <pc:chgData name="최재성" userId="fd1c8f17-701b-4db9-b0e3-82c8489f73d1" providerId="ADAL" clId="{A2CAFA80-9AF6-49A4-9734-13A70970C4A5}" dt="2026-06-18T02:32:14.036" v="176" actId="113"/>
      <pc:docMkLst>
        <pc:docMk/>
      </pc:docMkLst>
      <pc:sldChg chg="modSp mod">
        <pc:chgData name="최재성" userId="fd1c8f17-701b-4db9-b0e3-82c8489f73d1" providerId="ADAL" clId="{A2CAFA80-9AF6-49A4-9734-13A70970C4A5}" dt="2026-06-18T01:51:22.362" v="78" actId="113"/>
        <pc:sldMkLst>
          <pc:docMk/>
          <pc:sldMk cId="0" sldId="275"/>
        </pc:sldMkLst>
        <pc:spChg chg="mod">
          <ac:chgData name="최재성" userId="fd1c8f17-701b-4db9-b0e3-82c8489f73d1" providerId="ADAL" clId="{A2CAFA80-9AF6-49A4-9734-13A70970C4A5}" dt="2026-06-18T01:49:07.368" v="60" actId="113"/>
          <ac:spMkLst>
            <pc:docMk/>
            <pc:sldMk cId="0" sldId="275"/>
            <ac:spMk id="6" creationId="{00000000-0000-0000-0000-000000000000}"/>
          </ac:spMkLst>
        </pc:spChg>
        <pc:spChg chg="mod">
          <ac:chgData name="최재성" userId="fd1c8f17-701b-4db9-b0e3-82c8489f73d1" providerId="ADAL" clId="{A2CAFA80-9AF6-49A4-9734-13A70970C4A5}" dt="2026-06-18T01:49:18.332" v="61" actId="113"/>
          <ac:spMkLst>
            <pc:docMk/>
            <pc:sldMk cId="0" sldId="275"/>
            <ac:spMk id="8" creationId="{00000000-0000-0000-0000-000000000000}"/>
          </ac:spMkLst>
        </pc:spChg>
        <pc:spChg chg="mod">
          <ac:chgData name="최재성" userId="fd1c8f17-701b-4db9-b0e3-82c8489f73d1" providerId="ADAL" clId="{A2CAFA80-9AF6-49A4-9734-13A70970C4A5}" dt="2026-06-18T01:51:13.381" v="77" actId="1037"/>
          <ac:spMkLst>
            <pc:docMk/>
            <pc:sldMk cId="0" sldId="275"/>
            <ac:spMk id="10" creationId="{00000000-0000-0000-0000-000000000000}"/>
          </ac:spMkLst>
        </pc:spChg>
        <pc:spChg chg="mod">
          <ac:chgData name="최재성" userId="fd1c8f17-701b-4db9-b0e3-82c8489f73d1" providerId="ADAL" clId="{A2CAFA80-9AF6-49A4-9734-13A70970C4A5}" dt="2026-06-18T01:51:22.362" v="78" actId="113"/>
          <ac:spMkLst>
            <pc:docMk/>
            <pc:sldMk cId="0" sldId="275"/>
            <ac:spMk id="16" creationId="{00000000-0000-0000-0000-000000000000}"/>
          </ac:spMkLst>
        </pc:spChg>
        <pc:spChg chg="mod">
          <ac:chgData name="최재성" userId="fd1c8f17-701b-4db9-b0e3-82c8489f73d1" providerId="ADAL" clId="{A2CAFA80-9AF6-49A4-9734-13A70970C4A5}" dt="2026-06-18T01:49:37.285" v="63" actId="113"/>
          <ac:spMkLst>
            <pc:docMk/>
            <pc:sldMk cId="0" sldId="275"/>
            <ac:spMk id="21" creationId="{3EF1C9CE-9506-9A4C-F79C-282BCF5AD573}"/>
          </ac:spMkLst>
        </pc:spChg>
      </pc:sldChg>
      <pc:sldChg chg="modSp mod">
        <pc:chgData name="최재성" userId="fd1c8f17-701b-4db9-b0e3-82c8489f73d1" providerId="ADAL" clId="{A2CAFA80-9AF6-49A4-9734-13A70970C4A5}" dt="2026-06-18T02:29:52.054" v="160" actId="20577"/>
        <pc:sldMkLst>
          <pc:docMk/>
          <pc:sldMk cId="1445070815" sldId="661"/>
        </pc:sldMkLst>
        <pc:spChg chg="mod">
          <ac:chgData name="최재성" userId="fd1c8f17-701b-4db9-b0e3-82c8489f73d1" providerId="ADAL" clId="{A2CAFA80-9AF6-49A4-9734-13A70970C4A5}" dt="2026-06-18T02:29:52.054" v="160" actId="20577"/>
          <ac:spMkLst>
            <pc:docMk/>
            <pc:sldMk cId="1445070815" sldId="661"/>
            <ac:spMk id="2" creationId="{653F6D2D-5BB4-F18E-20C6-357FEAA8DBAC}"/>
          </ac:spMkLst>
        </pc:spChg>
      </pc:sldChg>
      <pc:sldChg chg="modSp mod">
        <pc:chgData name="최재성" userId="fd1c8f17-701b-4db9-b0e3-82c8489f73d1" providerId="ADAL" clId="{A2CAFA80-9AF6-49A4-9734-13A70970C4A5}" dt="2026-06-18T02:30:53.413" v="166" actId="113"/>
        <pc:sldMkLst>
          <pc:docMk/>
          <pc:sldMk cId="3441836281" sldId="679"/>
        </pc:sldMkLst>
        <pc:spChg chg="mod">
          <ac:chgData name="최재성" userId="fd1c8f17-701b-4db9-b0e3-82c8489f73d1" providerId="ADAL" clId="{A2CAFA80-9AF6-49A4-9734-13A70970C4A5}" dt="2026-06-18T02:30:53.413" v="166" actId="113"/>
          <ac:spMkLst>
            <pc:docMk/>
            <pc:sldMk cId="3441836281" sldId="679"/>
            <ac:spMk id="4" creationId="{BA86FB9D-870D-E9D5-39CA-319947F7F262}"/>
          </ac:spMkLst>
        </pc:spChg>
      </pc:sldChg>
      <pc:sldChg chg="modSp mod">
        <pc:chgData name="최재성" userId="fd1c8f17-701b-4db9-b0e3-82c8489f73d1" providerId="ADAL" clId="{A2CAFA80-9AF6-49A4-9734-13A70970C4A5}" dt="2026-06-18T02:31:45.856" v="174" actId="2711"/>
        <pc:sldMkLst>
          <pc:docMk/>
          <pc:sldMk cId="2505095682" sldId="680"/>
        </pc:sldMkLst>
        <pc:spChg chg="mod">
          <ac:chgData name="최재성" userId="fd1c8f17-701b-4db9-b0e3-82c8489f73d1" providerId="ADAL" clId="{A2CAFA80-9AF6-49A4-9734-13A70970C4A5}" dt="2026-06-18T02:31:45.856" v="174" actId="2711"/>
          <ac:spMkLst>
            <pc:docMk/>
            <pc:sldMk cId="2505095682" sldId="680"/>
            <ac:spMk id="2" creationId="{403A76EF-C50F-105B-EE71-1EBD32D9E2AA}"/>
          </ac:spMkLst>
        </pc:spChg>
      </pc:sldChg>
      <pc:sldChg chg="modSp mod">
        <pc:chgData name="최재성" userId="fd1c8f17-701b-4db9-b0e3-82c8489f73d1" providerId="ADAL" clId="{A2CAFA80-9AF6-49A4-9734-13A70970C4A5}" dt="2026-06-18T02:32:14.036" v="176" actId="113"/>
        <pc:sldMkLst>
          <pc:docMk/>
          <pc:sldMk cId="727093666" sldId="694"/>
        </pc:sldMkLst>
        <pc:spChg chg="mod">
          <ac:chgData name="최재성" userId="fd1c8f17-701b-4db9-b0e3-82c8489f73d1" providerId="ADAL" clId="{A2CAFA80-9AF6-49A4-9734-13A70970C4A5}" dt="2026-06-18T02:32:14.036" v="176" actId="113"/>
          <ac:spMkLst>
            <pc:docMk/>
            <pc:sldMk cId="727093666" sldId="694"/>
            <ac:spMk id="2" creationId="{8D51C9BB-80CD-EEF7-32DD-0AB5CFFC587B}"/>
          </ac:spMkLst>
        </pc:spChg>
      </pc:sldChg>
      <pc:sldChg chg="modSp mod modNotesTx">
        <pc:chgData name="최재성" userId="fd1c8f17-701b-4db9-b0e3-82c8489f73d1" providerId="ADAL" clId="{A2CAFA80-9AF6-49A4-9734-13A70970C4A5}" dt="2026-06-18T01:57:47.883" v="159" actId="20577"/>
        <pc:sldMkLst>
          <pc:docMk/>
          <pc:sldMk cId="626796821" sldId="696"/>
        </pc:sldMkLst>
        <pc:spChg chg="mod">
          <ac:chgData name="최재성" userId="fd1c8f17-701b-4db9-b0e3-82c8489f73d1" providerId="ADAL" clId="{A2CAFA80-9AF6-49A4-9734-13A70970C4A5}" dt="2026-06-18T01:56:53.873" v="157" actId="15"/>
          <ac:spMkLst>
            <pc:docMk/>
            <pc:sldMk cId="626796821" sldId="696"/>
            <ac:spMk id="3" creationId="{0A54344D-5BCD-8B7A-A815-D627FCA78F93}"/>
          </ac:spMkLst>
        </pc:spChg>
        <pc:spChg chg="mod">
          <ac:chgData name="최재성" userId="fd1c8f17-701b-4db9-b0e3-82c8489f73d1" providerId="ADAL" clId="{A2CAFA80-9AF6-49A4-9734-13A70970C4A5}" dt="2026-06-18T01:55:34.682" v="141" actId="20577"/>
          <ac:spMkLst>
            <pc:docMk/>
            <pc:sldMk cId="626796821" sldId="696"/>
            <ac:spMk id="10" creationId="{B16B3D8E-DD13-4E46-6C84-B798C239BFC4}"/>
          </ac:spMkLst>
        </pc:spChg>
        <pc:grpChg chg="mod">
          <ac:chgData name="최재성" userId="fd1c8f17-701b-4db9-b0e3-82c8489f73d1" providerId="ADAL" clId="{A2CAFA80-9AF6-49A4-9734-13A70970C4A5}" dt="2026-06-18T01:56:11.068" v="150" actId="1035"/>
          <ac:grpSpMkLst>
            <pc:docMk/>
            <pc:sldMk cId="626796821" sldId="696"/>
            <ac:grpSpMk id="2" creationId="{B8085EAF-8DF0-0B2D-B75E-CBB4E5618407}"/>
          </ac:grpSpMkLst>
        </pc:grpChg>
        <pc:picChg chg="mod">
          <ac:chgData name="최재성" userId="fd1c8f17-701b-4db9-b0e3-82c8489f73d1" providerId="ADAL" clId="{A2CAFA80-9AF6-49A4-9734-13A70970C4A5}" dt="2026-06-18T01:56:26.748" v="155" actId="12788"/>
          <ac:picMkLst>
            <pc:docMk/>
            <pc:sldMk cId="626796821" sldId="696"/>
            <ac:picMk id="5" creationId="{69C56747-4794-3F07-C3C1-CBB0F8B79F1B}"/>
          </ac:picMkLst>
        </pc:picChg>
      </pc:sldChg>
      <pc:sldChg chg="modSp mod">
        <pc:chgData name="최재성" userId="fd1c8f17-701b-4db9-b0e3-82c8489f73d1" providerId="ADAL" clId="{A2CAFA80-9AF6-49A4-9734-13A70970C4A5}" dt="2026-06-18T01:55:02.703" v="119" actId="2711"/>
        <pc:sldMkLst>
          <pc:docMk/>
          <pc:sldMk cId="318546016" sldId="699"/>
        </pc:sldMkLst>
        <pc:spChg chg="mod">
          <ac:chgData name="최재성" userId="fd1c8f17-701b-4db9-b0e3-82c8489f73d1" providerId="ADAL" clId="{A2CAFA80-9AF6-49A4-9734-13A70970C4A5}" dt="2026-06-18T01:55:02.703" v="119" actId="2711"/>
          <ac:spMkLst>
            <pc:docMk/>
            <pc:sldMk cId="318546016" sldId="699"/>
            <ac:spMk id="2" creationId="{18CFFD69-0CAC-D409-841F-8045BA6784AF}"/>
          </ac:spMkLst>
        </pc:spChg>
        <pc:picChg chg="mod">
          <ac:chgData name="최재성" userId="fd1c8f17-701b-4db9-b0e3-82c8489f73d1" providerId="ADAL" clId="{A2CAFA80-9AF6-49A4-9734-13A70970C4A5}" dt="2026-06-18T01:54:18.211" v="116" actId="1036"/>
          <ac:picMkLst>
            <pc:docMk/>
            <pc:sldMk cId="318546016" sldId="699"/>
            <ac:picMk id="6" creationId="{0B7840DF-9552-29BA-7726-7B8005CA0CB5}"/>
          </ac:picMkLst>
        </pc:picChg>
      </pc:sldChg>
      <pc:sldChg chg="modSp mod">
        <pc:chgData name="최재성" userId="fd1c8f17-701b-4db9-b0e3-82c8489f73d1" providerId="ADAL" clId="{A2CAFA80-9AF6-49A4-9734-13A70970C4A5}" dt="2026-06-18T01:48:12.948" v="59" actId="20577"/>
        <pc:sldMkLst>
          <pc:docMk/>
          <pc:sldMk cId="0" sldId="703"/>
        </pc:sldMkLst>
        <pc:spChg chg="mod">
          <ac:chgData name="최재성" userId="fd1c8f17-701b-4db9-b0e3-82c8489f73d1" providerId="ADAL" clId="{A2CAFA80-9AF6-49A4-9734-13A70970C4A5}" dt="2026-06-18T01:48:12.948" v="59" actId="20577"/>
          <ac:spMkLst>
            <pc:docMk/>
            <pc:sldMk cId="0" sldId="703"/>
            <ac:spMk id="17" creationId="{00000000-0000-0000-0000-000000000000}"/>
          </ac:spMkLst>
        </pc:spChg>
      </pc:sldChg>
    </pc:docChg>
  </pc:docChgLst>
  <pc:docChgLst>
    <pc:chgData name="최재성" userId="fd1c8f17-701b-4db9-b0e3-82c8489f73d1" providerId="ADAL" clId="{210061F9-7F0B-4F20-8E06-1BF6A2F29D40}"/>
    <pc:docChg chg="undo custSel addSld delSld modSld">
      <pc:chgData name="최재성" userId="fd1c8f17-701b-4db9-b0e3-82c8489f73d1" providerId="ADAL" clId="{210061F9-7F0B-4F20-8E06-1BF6A2F29D40}" dt="2026-06-16T11:42:29.781" v="2261"/>
      <pc:docMkLst>
        <pc:docMk/>
      </pc:docMkLst>
      <pc:sldChg chg="addSp delSp mod">
        <pc:chgData name="최재성" userId="fd1c8f17-701b-4db9-b0e3-82c8489f73d1" providerId="ADAL" clId="{210061F9-7F0B-4F20-8E06-1BF6A2F29D40}" dt="2026-06-16T11:40:27.623" v="2064" actId="22"/>
        <pc:sldMkLst>
          <pc:docMk/>
          <pc:sldMk cId="0" sldId="275"/>
        </pc:sldMkLst>
      </pc:sldChg>
      <pc:sldChg chg="modSp mod">
        <pc:chgData name="최재성" userId="fd1c8f17-701b-4db9-b0e3-82c8489f73d1" providerId="ADAL" clId="{210061F9-7F0B-4F20-8E06-1BF6A2F29D40}" dt="2026-06-16T10:54:39.920" v="556" actId="1035"/>
        <pc:sldMkLst>
          <pc:docMk/>
          <pc:sldMk cId="1445070815" sldId="661"/>
        </pc:sldMkLst>
        <pc:spChg chg="mod">
          <ac:chgData name="최재성" userId="fd1c8f17-701b-4db9-b0e3-82c8489f73d1" providerId="ADAL" clId="{210061F9-7F0B-4F20-8E06-1BF6A2F29D40}" dt="2026-06-16T10:54:39.920" v="556" actId="1035"/>
          <ac:spMkLst>
            <pc:docMk/>
            <pc:sldMk cId="1445070815" sldId="661"/>
            <ac:spMk id="7" creationId="{FF7D161B-2390-8826-98BD-6F9D1C370679}"/>
          </ac:spMkLst>
        </pc:spChg>
      </pc:sldChg>
      <pc:sldChg chg="modSp mod">
        <pc:chgData name="최재성" userId="fd1c8f17-701b-4db9-b0e3-82c8489f73d1" providerId="ADAL" clId="{210061F9-7F0B-4F20-8E06-1BF6A2F29D40}" dt="2026-06-16T11:01:03.728" v="1035" actId="1036"/>
        <pc:sldMkLst>
          <pc:docMk/>
          <pc:sldMk cId="2275774948" sldId="665"/>
        </pc:sldMkLst>
        <pc:spChg chg="mod">
          <ac:chgData name="최재성" userId="fd1c8f17-701b-4db9-b0e3-82c8489f73d1" providerId="ADAL" clId="{210061F9-7F0B-4F20-8E06-1BF6A2F29D40}" dt="2026-06-16T11:01:03.728" v="1035" actId="1036"/>
          <ac:spMkLst>
            <pc:docMk/>
            <pc:sldMk cId="2275774948" sldId="665"/>
            <ac:spMk id="18" creationId="{2B9A930D-80A1-2B98-2229-AD457AFD551B}"/>
          </ac:spMkLst>
        </pc:spChg>
        <pc:grpChg chg="mod">
          <ac:chgData name="최재성" userId="fd1c8f17-701b-4db9-b0e3-82c8489f73d1" providerId="ADAL" clId="{210061F9-7F0B-4F20-8E06-1BF6A2F29D40}" dt="2026-06-16T11:00:59.295" v="1034" actId="1035"/>
          <ac:grpSpMkLst>
            <pc:docMk/>
            <pc:sldMk cId="2275774948" sldId="665"/>
            <ac:grpSpMk id="24" creationId="{0D833352-AEAA-3BA2-6B74-AB281831902E}"/>
          </ac:grpSpMkLst>
        </pc:grpChg>
        <pc:graphicFrameChg chg="mod ord">
          <ac:chgData name="최재성" userId="fd1c8f17-701b-4db9-b0e3-82c8489f73d1" providerId="ADAL" clId="{210061F9-7F0B-4F20-8E06-1BF6A2F29D40}" dt="2026-06-16T11:00:42.599" v="966" actId="167"/>
          <ac:graphicFrameMkLst>
            <pc:docMk/>
            <pc:sldMk cId="2275774948" sldId="665"/>
            <ac:graphicFrameMk id="19" creationId="{1FE07BE5-2DFC-227B-2BED-04FE970C732F}"/>
          </ac:graphicFrameMkLst>
        </pc:graphicFrameChg>
        <pc:picChg chg="mod">
          <ac:chgData name="최재성" userId="fd1c8f17-701b-4db9-b0e3-82c8489f73d1" providerId="ADAL" clId="{210061F9-7F0B-4F20-8E06-1BF6A2F29D40}" dt="2026-06-16T10:59:51.951" v="950" actId="1037"/>
          <ac:picMkLst>
            <pc:docMk/>
            <pc:sldMk cId="2275774948" sldId="665"/>
            <ac:picMk id="3" creationId="{B40EEB39-8DA6-3961-6A50-C819417BC6B1}"/>
          </ac:picMkLst>
        </pc:picChg>
        <pc:picChg chg="mod">
          <ac:chgData name="최재성" userId="fd1c8f17-701b-4db9-b0e3-82c8489f73d1" providerId="ADAL" clId="{210061F9-7F0B-4F20-8E06-1BF6A2F29D40}" dt="2026-06-16T11:00:03.399" v="952" actId="208"/>
          <ac:picMkLst>
            <pc:docMk/>
            <pc:sldMk cId="2275774948" sldId="665"/>
            <ac:picMk id="5" creationId="{88ABD2AB-946B-8FF7-2052-80812274482C}"/>
          </ac:picMkLst>
        </pc:picChg>
      </pc:sldChg>
      <pc:sldChg chg="modSp mod">
        <pc:chgData name="최재성" userId="fd1c8f17-701b-4db9-b0e3-82c8489f73d1" providerId="ADAL" clId="{210061F9-7F0B-4F20-8E06-1BF6A2F29D40}" dt="2026-06-16T10:56:06.791" v="667" actId="1036"/>
        <pc:sldMkLst>
          <pc:docMk/>
          <pc:sldMk cId="350582351" sldId="669"/>
        </pc:sldMkLst>
        <pc:spChg chg="mod">
          <ac:chgData name="최재성" userId="fd1c8f17-701b-4db9-b0e3-82c8489f73d1" providerId="ADAL" clId="{210061F9-7F0B-4F20-8E06-1BF6A2F29D40}" dt="2026-06-16T10:56:05.234" v="663"/>
          <ac:spMkLst>
            <pc:docMk/>
            <pc:sldMk cId="350582351" sldId="669"/>
            <ac:spMk id="2" creationId="{4E20907E-C94D-C34E-EE7E-29B4E83BF366}"/>
          </ac:spMkLst>
        </pc:spChg>
        <pc:picChg chg="mod">
          <ac:chgData name="최재성" userId="fd1c8f17-701b-4db9-b0e3-82c8489f73d1" providerId="ADAL" clId="{210061F9-7F0B-4F20-8E06-1BF6A2F29D40}" dt="2026-06-16T10:56:06.791" v="667" actId="1036"/>
          <ac:picMkLst>
            <pc:docMk/>
            <pc:sldMk cId="350582351" sldId="669"/>
            <ac:picMk id="4" creationId="{F4C83CA2-0B76-FBA5-0478-62E77CC951FB}"/>
          </ac:picMkLst>
        </pc:picChg>
      </pc:sldChg>
      <pc:sldChg chg="modSp mod">
        <pc:chgData name="최재성" userId="fd1c8f17-701b-4db9-b0e3-82c8489f73d1" providerId="ADAL" clId="{210061F9-7F0B-4F20-8E06-1BF6A2F29D40}" dt="2026-06-16T10:59:17.183" v="943" actId="1036"/>
        <pc:sldMkLst>
          <pc:docMk/>
          <pc:sldMk cId="3441836281" sldId="679"/>
        </pc:sldMkLst>
        <pc:spChg chg="mod">
          <ac:chgData name="최재성" userId="fd1c8f17-701b-4db9-b0e3-82c8489f73d1" providerId="ADAL" clId="{210061F9-7F0B-4F20-8E06-1BF6A2F29D40}" dt="2026-06-16T10:59:15.616" v="942" actId="1036"/>
          <ac:spMkLst>
            <pc:docMk/>
            <pc:sldMk cId="3441836281" sldId="679"/>
            <ac:spMk id="4" creationId="{BA86FB9D-870D-E9D5-39CA-319947F7F262}"/>
          </ac:spMkLst>
        </pc:spChg>
        <pc:picChg chg="mod">
          <ac:chgData name="최재성" userId="fd1c8f17-701b-4db9-b0e3-82c8489f73d1" providerId="ADAL" clId="{210061F9-7F0B-4F20-8E06-1BF6A2F29D40}" dt="2026-06-16T10:59:17.183" v="943" actId="1036"/>
          <ac:picMkLst>
            <pc:docMk/>
            <pc:sldMk cId="3441836281" sldId="679"/>
            <ac:picMk id="3" creationId="{3D3F6195-8B73-E842-7980-7132E1F63944}"/>
          </ac:picMkLst>
        </pc:picChg>
      </pc:sldChg>
      <pc:sldChg chg="modSp mod">
        <pc:chgData name="최재성" userId="fd1c8f17-701b-4db9-b0e3-82c8489f73d1" providerId="ADAL" clId="{210061F9-7F0B-4F20-8E06-1BF6A2F29D40}" dt="2026-06-16T10:49:46.569" v="9"/>
        <pc:sldMkLst>
          <pc:docMk/>
          <pc:sldMk cId="2505095682" sldId="680"/>
        </pc:sldMkLst>
        <pc:spChg chg="mod">
          <ac:chgData name="최재성" userId="fd1c8f17-701b-4db9-b0e3-82c8489f73d1" providerId="ADAL" clId="{210061F9-7F0B-4F20-8E06-1BF6A2F29D40}" dt="2026-06-16T10:49:46.569" v="9"/>
          <ac:spMkLst>
            <pc:docMk/>
            <pc:sldMk cId="2505095682" sldId="680"/>
            <ac:spMk id="44" creationId="{4E281E5D-F41B-8100-2C57-A4D0807090E6}"/>
          </ac:spMkLst>
        </pc:spChg>
      </pc:sldChg>
      <pc:sldChg chg="modSp mod">
        <pc:chgData name="최재성" userId="fd1c8f17-701b-4db9-b0e3-82c8489f73d1" providerId="ADAL" clId="{210061F9-7F0B-4F20-8E06-1BF6A2F29D40}" dt="2026-06-16T10:58:38.103" v="910" actId="1036"/>
        <pc:sldMkLst>
          <pc:docMk/>
          <pc:sldMk cId="2357281110" sldId="692"/>
        </pc:sldMkLst>
        <pc:spChg chg="mod">
          <ac:chgData name="최재성" userId="fd1c8f17-701b-4db9-b0e3-82c8489f73d1" providerId="ADAL" clId="{210061F9-7F0B-4F20-8E06-1BF6A2F29D40}" dt="2026-06-16T10:58:38.103" v="910" actId="1036"/>
          <ac:spMkLst>
            <pc:docMk/>
            <pc:sldMk cId="2357281110" sldId="692"/>
            <ac:spMk id="4" creationId="{08CAFBA1-F56F-BA21-94AB-72F7A91187BF}"/>
          </ac:spMkLst>
        </pc:spChg>
        <pc:picChg chg="mod">
          <ac:chgData name="최재성" userId="fd1c8f17-701b-4db9-b0e3-82c8489f73d1" providerId="ADAL" clId="{210061F9-7F0B-4F20-8E06-1BF6A2F29D40}" dt="2026-06-16T10:58:23.032" v="907" actId="1036"/>
          <ac:picMkLst>
            <pc:docMk/>
            <pc:sldMk cId="2357281110" sldId="692"/>
            <ac:picMk id="2" creationId="{43B31037-BA28-A3BD-7CA0-BD53BF4AC516}"/>
          </ac:picMkLst>
        </pc:picChg>
      </pc:sldChg>
      <pc:sldChg chg="modSp mod">
        <pc:chgData name="최재성" userId="fd1c8f17-701b-4db9-b0e3-82c8489f73d1" providerId="ADAL" clId="{210061F9-7F0B-4F20-8E06-1BF6A2F29D40}" dt="2026-06-16T10:54:17.664" v="544" actId="1035"/>
        <pc:sldMkLst>
          <pc:docMk/>
          <pc:sldMk cId="727093666" sldId="694"/>
        </pc:sldMkLst>
        <pc:spChg chg="mod">
          <ac:chgData name="최재성" userId="fd1c8f17-701b-4db9-b0e3-82c8489f73d1" providerId="ADAL" clId="{210061F9-7F0B-4F20-8E06-1BF6A2F29D40}" dt="2026-06-16T10:54:08.208" v="538" actId="1036"/>
          <ac:spMkLst>
            <pc:docMk/>
            <pc:sldMk cId="727093666" sldId="694"/>
            <ac:spMk id="2" creationId="{8D51C9BB-80CD-EEF7-32DD-0AB5CFFC587B}"/>
          </ac:spMkLst>
        </pc:spChg>
        <pc:picChg chg="mod">
          <ac:chgData name="최재성" userId="fd1c8f17-701b-4db9-b0e3-82c8489f73d1" providerId="ADAL" clId="{210061F9-7F0B-4F20-8E06-1BF6A2F29D40}" dt="2026-06-16T10:54:17.664" v="544" actId="1035"/>
          <ac:picMkLst>
            <pc:docMk/>
            <pc:sldMk cId="727093666" sldId="694"/>
            <ac:picMk id="8" creationId="{44364775-9FCB-BF16-9B58-2E26A46CFE33}"/>
          </ac:picMkLst>
        </pc:picChg>
      </pc:sldChg>
      <pc:sldChg chg="modNotesTx">
        <pc:chgData name="최재성" userId="fd1c8f17-701b-4db9-b0e3-82c8489f73d1" providerId="ADAL" clId="{210061F9-7F0B-4F20-8E06-1BF6A2F29D40}" dt="2026-06-16T11:01:37.703" v="1037" actId="5793"/>
        <pc:sldMkLst>
          <pc:docMk/>
          <pc:sldMk cId="626796821" sldId="696"/>
        </pc:sldMkLst>
      </pc:sldChg>
      <pc:sldChg chg="modSp mod">
        <pc:chgData name="최재성" userId="fd1c8f17-701b-4db9-b0e3-82c8489f73d1" providerId="ADAL" clId="{210061F9-7F0B-4F20-8E06-1BF6A2F29D40}" dt="2026-06-16T11:02:52.863" v="1063" actId="20577"/>
        <pc:sldMkLst>
          <pc:docMk/>
          <pc:sldMk cId="318546016" sldId="699"/>
        </pc:sldMkLst>
        <pc:spChg chg="mod">
          <ac:chgData name="최재성" userId="fd1c8f17-701b-4db9-b0e3-82c8489f73d1" providerId="ADAL" clId="{210061F9-7F0B-4F20-8E06-1BF6A2F29D40}" dt="2026-06-16T11:02:52.863" v="1063" actId="20577"/>
          <ac:spMkLst>
            <pc:docMk/>
            <pc:sldMk cId="318546016" sldId="699"/>
            <ac:spMk id="2" creationId="{18CFFD69-0CAC-D409-841F-8045BA6784AF}"/>
          </ac:spMkLst>
        </pc:spChg>
        <pc:picChg chg="mod">
          <ac:chgData name="최재성" userId="fd1c8f17-701b-4db9-b0e3-82c8489f73d1" providerId="ADAL" clId="{210061F9-7F0B-4F20-8E06-1BF6A2F29D40}" dt="2026-06-16T11:02:46.258" v="1061" actId="1035"/>
          <ac:picMkLst>
            <pc:docMk/>
            <pc:sldMk cId="318546016" sldId="699"/>
            <ac:picMk id="6" creationId="{0B7840DF-9552-29BA-7726-7B8005CA0CB5}"/>
          </ac:picMkLst>
        </pc:picChg>
      </pc:sldChg>
      <pc:sldChg chg="addSp delSp modSp add mod modNotesTx">
        <pc:chgData name="최재성" userId="fd1c8f17-701b-4db9-b0e3-82c8489f73d1" providerId="ADAL" clId="{210061F9-7F0B-4F20-8E06-1BF6A2F29D40}" dt="2026-06-16T11:39:08.214" v="2062" actId="20577"/>
        <pc:sldMkLst>
          <pc:docMk/>
          <pc:sldMk cId="0" sldId="703"/>
        </pc:sldMkLst>
        <pc:spChg chg="mod">
          <ac:chgData name="최재성" userId="fd1c8f17-701b-4db9-b0e3-82c8489f73d1" providerId="ADAL" clId="{210061F9-7F0B-4F20-8E06-1BF6A2F29D40}" dt="2026-06-16T11:32:21.048" v="1812" actId="1037"/>
          <ac:spMkLst>
            <pc:docMk/>
            <pc:sldMk cId="0" sldId="703"/>
            <ac:spMk id="5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6:41.380" v="2006" actId="113"/>
          <ac:spMkLst>
            <pc:docMk/>
            <pc:sldMk cId="0" sldId="703"/>
            <ac:spMk id="7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6:45.705" v="2008" actId="113"/>
          <ac:spMkLst>
            <pc:docMk/>
            <pc:sldMk cId="0" sldId="703"/>
            <ac:spMk id="9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3:02.558" v="1871" actId="6549"/>
          <ac:spMkLst>
            <pc:docMk/>
            <pc:sldMk cId="0" sldId="703"/>
            <ac:spMk id="12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9:08.214" v="2062" actId="20577"/>
          <ac:spMkLst>
            <pc:docMk/>
            <pc:sldMk cId="0" sldId="703"/>
            <ac:spMk id="15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6:26.167" v="2004" actId="255"/>
          <ac:spMkLst>
            <pc:docMk/>
            <pc:sldMk cId="0" sldId="703"/>
            <ac:spMk id="17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4:25.621" v="1896"/>
          <ac:spMkLst>
            <pc:docMk/>
            <pc:sldMk cId="0" sldId="703"/>
            <ac:spMk id="20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36:33.199" v="2005" actId="255"/>
          <ac:spMkLst>
            <pc:docMk/>
            <pc:sldMk cId="0" sldId="703"/>
            <ac:spMk id="22" creationId="{00000000-0000-0000-0000-000000000000}"/>
          </ac:spMkLst>
        </pc:spChg>
        <pc:spChg chg="mod">
          <ac:chgData name="최재성" userId="fd1c8f17-701b-4db9-b0e3-82c8489f73d1" providerId="ADAL" clId="{210061F9-7F0B-4F20-8E06-1BF6A2F29D40}" dt="2026-06-16T11:28:02.911" v="1608" actId="20577"/>
          <ac:spMkLst>
            <pc:docMk/>
            <pc:sldMk cId="0" sldId="703"/>
            <ac:spMk id="23" creationId="{B53BB810-7C92-5485-0A66-3BC59918A3E5}"/>
          </ac:spMkLst>
        </pc:spChg>
        <pc:grpChg chg="add mod">
          <ac:chgData name="최재성" userId="fd1c8f17-701b-4db9-b0e3-82c8489f73d1" providerId="ADAL" clId="{210061F9-7F0B-4F20-8E06-1BF6A2F29D40}" dt="2026-06-16T11:33:25.830" v="1872" actId="1036"/>
          <ac:grpSpMkLst>
            <pc:docMk/>
            <pc:sldMk cId="0" sldId="703"/>
            <ac:grpSpMk id="2" creationId="{9C75B94C-E791-8766-1F94-272C187720EE}"/>
          </ac:grpSpMkLst>
        </pc:grpChg>
      </pc:sldChg>
      <pc:sldChg chg="modSp add mod setBg">
        <pc:chgData name="최재성" userId="fd1c8f17-701b-4db9-b0e3-82c8489f73d1" providerId="ADAL" clId="{210061F9-7F0B-4F20-8E06-1BF6A2F29D40}" dt="2026-06-16T11:42:29.781" v="2261"/>
        <pc:sldMkLst>
          <pc:docMk/>
          <pc:sldMk cId="4027033789" sldId="704"/>
        </pc:sldMkLst>
        <pc:spChg chg="mod">
          <ac:chgData name="최재성" userId="fd1c8f17-701b-4db9-b0e3-82c8489f73d1" providerId="ADAL" clId="{210061F9-7F0B-4F20-8E06-1BF6A2F29D40}" dt="2026-06-16T11:41:03.367" v="2071" actId="6549"/>
          <ac:spMkLst>
            <pc:docMk/>
            <pc:sldMk cId="4027033789" sldId="704"/>
            <ac:spMk id="2" creationId="{495D49CA-D66F-3DC0-C86F-0A5537C28293}"/>
          </ac:spMkLst>
        </pc:spChg>
        <pc:spChg chg="mod">
          <ac:chgData name="최재성" userId="fd1c8f17-701b-4db9-b0e3-82c8489f73d1" providerId="ADAL" clId="{210061F9-7F0B-4F20-8E06-1BF6A2F29D40}" dt="2026-06-16T11:41:58.027" v="2165"/>
          <ac:spMkLst>
            <pc:docMk/>
            <pc:sldMk cId="4027033789" sldId="704"/>
            <ac:spMk id="3" creationId="{F33A8F14-29B3-E6B7-FB4E-681DE5F8111A}"/>
          </ac:spMkLst>
        </pc:spChg>
        <pc:spChg chg="mod">
          <ac:chgData name="최재성" userId="fd1c8f17-701b-4db9-b0e3-82c8489f73d1" providerId="ADAL" clId="{210061F9-7F0B-4F20-8E06-1BF6A2F29D40}" dt="2026-06-16T11:42:29.781" v="2261"/>
          <ac:spMkLst>
            <pc:docMk/>
            <pc:sldMk cId="4027033789" sldId="704"/>
            <ac:spMk id="4" creationId="{67A0C667-164E-605D-3044-3DFF7FCB4D5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o365skku-my.sharepoint.com/personal/jaesungc_o365_skku_edu/Documents/!%200%20&#51089;&#50629;%20&#51473;/Tokyo%20Conference_2506/sdc-lorenz/Gini&#44228;&#49688;%20by%20&#54665;&#51221;&#4439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행정구별 지니계수</a:t>
            </a:r>
            <a:r>
              <a:rPr lang="en-US" altLang="ko-KR"/>
              <a:t>(2020</a:t>
            </a:r>
            <a:r>
              <a:rPr lang="ko-KR" altLang="en-US"/>
              <a:t>년</a:t>
            </a:r>
            <a:r>
              <a:rPr lang="en-US" altLang="ko-KR"/>
              <a:t>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행정구!$G$3:$G$27</c:f>
              <c:strCache>
                <c:ptCount val="25"/>
                <c:pt idx="0">
                  <c:v>강남구</c:v>
                </c:pt>
                <c:pt idx="1">
                  <c:v>용산구</c:v>
                </c:pt>
                <c:pt idx="2">
                  <c:v>종로구</c:v>
                </c:pt>
                <c:pt idx="3">
                  <c:v>서초구</c:v>
                </c:pt>
                <c:pt idx="4">
                  <c:v>중구</c:v>
                </c:pt>
                <c:pt idx="5">
                  <c:v>서대문구</c:v>
                </c:pt>
                <c:pt idx="6">
                  <c:v>양천구</c:v>
                </c:pt>
                <c:pt idx="7">
                  <c:v>성북구</c:v>
                </c:pt>
                <c:pt idx="8">
                  <c:v>성동구</c:v>
                </c:pt>
                <c:pt idx="9">
                  <c:v>송파구</c:v>
                </c:pt>
                <c:pt idx="10">
                  <c:v>마포구</c:v>
                </c:pt>
                <c:pt idx="11">
                  <c:v>노원구</c:v>
                </c:pt>
                <c:pt idx="12">
                  <c:v>동대문구</c:v>
                </c:pt>
                <c:pt idx="13">
                  <c:v>강동구</c:v>
                </c:pt>
                <c:pt idx="14">
                  <c:v>동작구</c:v>
                </c:pt>
                <c:pt idx="15">
                  <c:v>광진구</c:v>
                </c:pt>
                <c:pt idx="16">
                  <c:v>도봉구</c:v>
                </c:pt>
                <c:pt idx="17">
                  <c:v>영등포구</c:v>
                </c:pt>
                <c:pt idx="18">
                  <c:v>강북구</c:v>
                </c:pt>
                <c:pt idx="19">
                  <c:v>은평구</c:v>
                </c:pt>
                <c:pt idx="20">
                  <c:v>강서구</c:v>
                </c:pt>
                <c:pt idx="21">
                  <c:v>중랑구</c:v>
                </c:pt>
                <c:pt idx="22">
                  <c:v>구로구</c:v>
                </c:pt>
                <c:pt idx="23">
                  <c:v>관악구</c:v>
                </c:pt>
                <c:pt idx="24">
                  <c:v>금천구</c:v>
                </c:pt>
              </c:strCache>
            </c:strRef>
          </c:cat>
          <c:val>
            <c:numRef>
              <c:f>행정구!$H$3:$H$27</c:f>
              <c:numCache>
                <c:formatCode>0.000</c:formatCode>
                <c:ptCount val="25"/>
                <c:pt idx="0">
                  <c:v>0.56422459999999997</c:v>
                </c:pt>
                <c:pt idx="1">
                  <c:v>0.56134406000000003</c:v>
                </c:pt>
                <c:pt idx="2">
                  <c:v>0.56049861999999995</c:v>
                </c:pt>
                <c:pt idx="3">
                  <c:v>0.55992580999999997</c:v>
                </c:pt>
                <c:pt idx="4">
                  <c:v>0.54949979000000004</c:v>
                </c:pt>
                <c:pt idx="5">
                  <c:v>0.54700808999999995</c:v>
                </c:pt>
                <c:pt idx="6">
                  <c:v>0.54664612999999995</c:v>
                </c:pt>
                <c:pt idx="7">
                  <c:v>0.54612779</c:v>
                </c:pt>
                <c:pt idx="8">
                  <c:v>0.54445105000000005</c:v>
                </c:pt>
                <c:pt idx="9">
                  <c:v>0.54370529999999995</c:v>
                </c:pt>
                <c:pt idx="10">
                  <c:v>0.54322709000000002</c:v>
                </c:pt>
                <c:pt idx="11">
                  <c:v>0.53917828999999995</c:v>
                </c:pt>
                <c:pt idx="12">
                  <c:v>0.53872536999999998</c:v>
                </c:pt>
                <c:pt idx="13">
                  <c:v>0.53671933000000005</c:v>
                </c:pt>
                <c:pt idx="14">
                  <c:v>0.53646382000000004</c:v>
                </c:pt>
                <c:pt idx="15">
                  <c:v>0.53439168999999997</c:v>
                </c:pt>
                <c:pt idx="16">
                  <c:v>0.53361751000000002</c:v>
                </c:pt>
                <c:pt idx="17">
                  <c:v>0.53117603999999996</c:v>
                </c:pt>
                <c:pt idx="18">
                  <c:v>0.52966692999999998</c:v>
                </c:pt>
                <c:pt idx="19">
                  <c:v>0.52783480999999999</c:v>
                </c:pt>
                <c:pt idx="20">
                  <c:v>0.52471599000000002</c:v>
                </c:pt>
                <c:pt idx="21">
                  <c:v>0.52316638000000004</c:v>
                </c:pt>
                <c:pt idx="22">
                  <c:v>0.52301987000000005</c:v>
                </c:pt>
                <c:pt idx="23">
                  <c:v>0.51776827000000003</c:v>
                </c:pt>
                <c:pt idx="24">
                  <c:v>0.51362249999999998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D-4519-91F9-217590F09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2136063"/>
        <c:axId val="2132138463"/>
      </c:barChart>
      <c:catAx>
        <c:axId val="2132136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32138463"/>
        <c:crosses val="autoZero"/>
        <c:auto val="1"/>
        <c:lblAlgn val="ctr"/>
        <c:lblOffset val="100"/>
        <c:noMultiLvlLbl val="0"/>
      </c:catAx>
      <c:valAx>
        <c:axId val="2132138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3213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/>
          <a:lstStyle>
            <a:lvl1pPr algn="l">
              <a:defRPr sz="1300"/>
            </a:lvl1pPr>
          </a:lstStyle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9" y="2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/>
          <a:lstStyle>
            <a:lvl1pPr algn="r">
              <a:defRPr sz="1300"/>
            </a:lvl1pPr>
          </a:lstStyle>
          <a:p>
            <a:fld id="{83D2F339-B8ED-4ADE-897F-262476495A30}" type="datetimeFigureOut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2026-06-18</a:t>
            </a:fld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6743103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9" y="6743103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 anchor="b"/>
          <a:lstStyle>
            <a:lvl1pPr algn="r">
              <a:defRPr sz="1300"/>
            </a:lvl1pPr>
          </a:lstStyle>
          <a:p>
            <a:fld id="{C8A6236F-803D-445B-9473-0E93DFACBFAD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‹#›</a:t>
            </a:fld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2012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/>
          <a:lstStyle>
            <a:lvl1pPr algn="l">
              <a:defRPr sz="13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9" y="2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/>
          <a:lstStyle>
            <a:lvl1pPr algn="r">
              <a:defRPr sz="1300">
                <a:latin typeface="Tahoma" pitchFamily="34" charset="0"/>
              </a:defRPr>
            </a:lvl1pPr>
          </a:lstStyle>
          <a:p>
            <a:fld id="{30E31BAA-E893-4BD6-B9E9-25B5049D716B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1813"/>
            <a:ext cx="4730750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634" tIns="49817" rIns="99634" bIns="4981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372170"/>
            <a:ext cx="8187690" cy="3194685"/>
          </a:xfrm>
          <a:prstGeom prst="rect">
            <a:avLst/>
          </a:prstGeom>
        </p:spPr>
        <p:txBody>
          <a:bodyPr vert="horz" lIns="99634" tIns="49817" rIns="99634" bIns="4981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743103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 anchor="b"/>
          <a:lstStyle>
            <a:lvl1pPr algn="l">
              <a:defRPr sz="13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9" y="6743103"/>
            <a:ext cx="4435000" cy="354965"/>
          </a:xfrm>
          <a:prstGeom prst="rect">
            <a:avLst/>
          </a:prstGeom>
        </p:spPr>
        <p:txBody>
          <a:bodyPr vert="horz" lIns="99634" tIns="49817" rIns="99634" bIns="49817" rtlCol="0" anchor="b"/>
          <a:lstStyle>
            <a:lvl1pPr algn="r">
              <a:defRPr sz="1300">
                <a:latin typeface="Tahoma" pitchFamily="34" charset="0"/>
              </a:defRPr>
            </a:lvl1pPr>
          </a:lstStyle>
          <a:p>
            <a:fld id="{E4DA35ED-F3DD-4B2C-B714-6F478CEA71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24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B08C-FA57-F9DB-0700-DC85F94F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A6C515-ACA1-8B2B-9F7A-E67385B88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096EAB-52BA-8D30-6743-5330DF724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기업체 규모</a:t>
            </a:r>
            <a:r>
              <a:rPr lang="en-US" altLang="ko-KR" dirty="0"/>
              <a:t>, </a:t>
            </a:r>
            <a:r>
              <a:rPr lang="ko-KR" altLang="en-US" dirty="0"/>
              <a:t>산업분류</a:t>
            </a:r>
            <a:r>
              <a:rPr lang="en-US" altLang="ko-KR" dirty="0"/>
              <a:t>(</a:t>
            </a:r>
            <a:r>
              <a:rPr lang="ko-KR" altLang="en-US" dirty="0"/>
              <a:t>대</a:t>
            </a:r>
            <a:r>
              <a:rPr lang="en-US" altLang="ko-KR" dirty="0"/>
              <a:t>/</a:t>
            </a:r>
            <a:r>
              <a:rPr lang="ko-KR" altLang="en-US" dirty="0"/>
              <a:t>중</a:t>
            </a:r>
            <a:r>
              <a:rPr lang="en-US" altLang="ko-KR" dirty="0"/>
              <a:t>), </a:t>
            </a:r>
            <a:r>
              <a:rPr lang="ko-KR" altLang="en-US" dirty="0"/>
              <a:t>근로일수</a:t>
            </a:r>
            <a:r>
              <a:rPr lang="en-US" altLang="ko-KR" dirty="0"/>
              <a:t>, </a:t>
            </a:r>
            <a:r>
              <a:rPr lang="ko-KR" altLang="en-US" dirty="0"/>
              <a:t>근속기간 제공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01BF6A-839D-8028-BA5A-93488AC36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1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B08C-FA57-F9DB-0700-DC85F94F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A6C515-ACA1-8B2B-9F7A-E67385B88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096EAB-52BA-8D30-6743-5330DF724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기업체 규모</a:t>
            </a:r>
            <a:r>
              <a:rPr lang="en-US" altLang="ko-KR" dirty="0"/>
              <a:t>, </a:t>
            </a:r>
            <a:r>
              <a:rPr lang="ko-KR" altLang="en-US" dirty="0"/>
              <a:t>산업분류</a:t>
            </a:r>
            <a:r>
              <a:rPr lang="en-US" altLang="ko-KR" dirty="0"/>
              <a:t>(</a:t>
            </a:r>
            <a:r>
              <a:rPr lang="ko-KR" altLang="en-US" dirty="0"/>
              <a:t>대</a:t>
            </a:r>
            <a:r>
              <a:rPr lang="en-US" altLang="ko-KR" dirty="0"/>
              <a:t>/</a:t>
            </a:r>
            <a:r>
              <a:rPr lang="ko-KR" altLang="en-US" dirty="0"/>
              <a:t>중</a:t>
            </a:r>
            <a:r>
              <a:rPr lang="en-US" altLang="ko-KR" dirty="0"/>
              <a:t>), </a:t>
            </a:r>
            <a:r>
              <a:rPr lang="ko-KR" altLang="en-US" dirty="0"/>
              <a:t>근로일수</a:t>
            </a:r>
            <a:r>
              <a:rPr lang="en-US" altLang="ko-KR" dirty="0"/>
              <a:t>, </a:t>
            </a:r>
            <a:r>
              <a:rPr lang="ko-KR" altLang="en-US" dirty="0"/>
              <a:t>근속기간 제공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01BF6A-839D-8028-BA5A-93488AC36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48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97DA-9E34-E296-1F29-5D373A9B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DB260C-E7A1-5940-DD09-8ACB519A2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CDCC45-4257-CFEF-C050-07D897650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ea typeface="나눔스퀘어" panose="020B0600000101010101" pitchFamily="50" charset="-127"/>
              </a:rPr>
              <a:t>ㅇ</a:t>
            </a:r>
            <a:r>
              <a:rPr lang="ko-KR" altLang="en-US" dirty="0">
                <a:ea typeface="나눔스퀘어" panose="020B0600000101010101" pitchFamily="50" charset="-127"/>
              </a:rPr>
              <a:t> 분석을 위하여 활용가능한 모든 공개된 자료를 이용하고자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BF57E-8C01-2248-88F2-23B95664C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8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3B43-3DE8-63A8-6EB1-84E71118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3CACC9-1EA9-41E1-007B-D46810CF3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E3FBB0-DC95-428A-9298-6BC50A90F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나눔스퀘어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C06F3-B5B1-5601-BDFB-07B045528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81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BA59-D250-CC3B-28A3-69FC6A2C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A0E513-35A8-7E4C-FDAC-CB3A391D7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8A0B0F-D4FF-C4F3-0A50-6A2533588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ea typeface="나눔스퀘어" panose="020B0600000101010101" pitchFamily="50" charset="-127"/>
              </a:rPr>
              <a:t>ㅇ</a:t>
            </a:r>
            <a:r>
              <a:rPr lang="ko-KR" altLang="en-US" dirty="0">
                <a:ea typeface="나눔스퀘어" panose="020B0600000101010101" pitchFamily="50" charset="-127"/>
              </a:rPr>
              <a:t> 분석을 위하여 활용가능한 모든 공개된 자료를 이용하고자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EC1F92-4C05-F263-A5D3-FD3EB472C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914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38DD-1F53-630B-09C2-46CA68DD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6F4F4E-EE10-348D-7489-C838E5F94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EE86E9-9A42-F070-A88D-DD3C43E07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ko-KR" altLang="en-US" sz="1400" b="1" spc="-100" dirty="0">
                <a:solidFill>
                  <a:srgbClr val="C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분석 결과 반출 불가</a:t>
            </a:r>
            <a:endParaRPr lang="en-US" altLang="ko-KR" sz="1400" b="1" spc="-100" dirty="0">
              <a:solidFill>
                <a:srgbClr val="C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altLang="ko-KR" sz="800" b="1" spc="-100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ko-KR" altLang="en-US" sz="1200" b="1" spc="-100" dirty="0" err="1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시군구</a:t>
            </a:r>
            <a:r>
              <a:rPr lang="ko-KR" altLang="en-US" sz="12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보다 작은 단위</a:t>
            </a:r>
            <a:r>
              <a:rPr lang="en-US" altLang="ko-KR" sz="12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2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행정동</a:t>
            </a:r>
            <a:r>
              <a:rPr lang="en-US" altLang="ko-KR" sz="12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ko-KR" altLang="en-US" sz="12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에서 집계한 기초 통계는 반출할 수 없음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7102E2-ABC9-4EE5-F68F-35F62E844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91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0E7A-67AC-E62F-5CE4-EDB037D1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0246DA-8C85-C70E-7168-B7E470BE4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F0712-A48C-2199-D1CE-092408E77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나눔스퀘어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33FD65-7C36-9E1D-C701-EE59A59B9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01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96652-D27B-C255-3345-ADD34C69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7E1023-5704-55FB-F4F8-2D9DDC59B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01925" y="509588"/>
            <a:ext cx="4538663" cy="25542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B1422-B061-678A-3824-6677E78FC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00100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주거지 분리가 낮고 소득 불평등이 적은 지역에서 세대 간 이동성이 높음을 실증적으로 제시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(Chetty et al., 2014; Chetty et al., 2018)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Gautreaux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주거지 분산 프로그램의 장기 효과를 분석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인종적 분리 해소가 아동의 평생 소득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사회적 통합 등 다양한 삶의 질 지표를 개선함을 입증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marR="0" lvl="2" indent="-3429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대규모 아파트 </a:t>
            </a:r>
            <a:r>
              <a:rPr lang="ko-KR" altLang="en-US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단지 신축</a:t>
            </a:r>
            <a:r>
              <a:rPr lang="en-US" altLang="ko-KR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재개발</a:t>
            </a:r>
            <a:r>
              <a:rPr lang="en-US" altLang="ko-KR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b="1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젠트리피케이션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및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주택가격 상승기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(2015-2022)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때 계층별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이동 격차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주거지 분리 심화 확인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이윤상 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2023;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박영민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김종구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2021;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한승혜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배현희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2021;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김정호 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2021,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박재희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&amp;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김태형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2020;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박태원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2016)</a:t>
            </a:r>
          </a:p>
          <a:p>
            <a:pPr marL="800100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dirty="0">
              <a:ea typeface="나눔스퀘어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B0ECA7-7CB8-8F67-91B7-DF3FBD37C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3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8A26-498F-3EB7-38C9-6F7E4E0D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F38FD3-36F5-134A-36D8-BAA6D3991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ED825E-7B0D-3682-A99E-5D448F752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ea typeface="나눔스퀘어" panose="020B0600000101010101" pitchFamily="50" charset="-127"/>
              </a:rPr>
              <a:t>ㅇ</a:t>
            </a:r>
            <a:r>
              <a:rPr lang="ko-KR" altLang="en-US" dirty="0">
                <a:ea typeface="나눔스퀘어" panose="020B0600000101010101" pitchFamily="50" charset="-127"/>
              </a:rPr>
              <a:t> 분석을 위하여 활용가능한 모든 공개된 자료를 이용하고자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D8513A-3B7A-725C-2ECB-FA4665E0A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74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C84B-9A4A-50E9-AB3D-7E82D04B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839CFF-E55F-ACD5-3A29-6C104B786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E2848F-8807-9DFD-59EE-F2D41AAFE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57300" lvl="2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자치구는 면적과 인구 규모 모두에서 행정동보다 약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 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88671-6FBA-73F5-B920-451C303F7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79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32BCD-BAF2-7E08-ADBC-50E8AC810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91EFF-9051-BB27-BCFC-3CAEE123C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91E2C5-E750-871D-E03F-3AA301540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ea typeface="나눔스퀘어" panose="020B0600000101010101" pitchFamily="50" charset="-127"/>
              </a:rPr>
              <a:t>ㅇ</a:t>
            </a:r>
            <a:r>
              <a:rPr lang="ko-KR" altLang="en-US" dirty="0">
                <a:ea typeface="나눔스퀘어" panose="020B0600000101010101" pitchFamily="50" charset="-127"/>
              </a:rPr>
              <a:t> 분석을 위하여 활용가능한 모든 공개된 자료를 이용하고자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DA023-B85E-A303-81AF-AAB7FF496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92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D8CC-A274-13DC-9869-A5C271A6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C2AD1D-0501-A643-F568-8DE3268F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C7328-4E3B-B894-C099-F603DCE79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혼합단지 거주 여부와 근린지역 불평등의 관계를 </a:t>
            </a:r>
            <a:r>
              <a:rPr lang="ko-KR" altLang="ko-KR" dirty="0" err="1"/>
              <a:t>로짓</a:t>
            </a:r>
            <a:r>
              <a:rPr lang="ko-KR" altLang="ko-KR" dirty="0"/>
              <a:t> 모형으로 추정했고, 서울시 공공임대주택 입주자 패널조사 3개 연도를 사용했습니다. 모형에는 혼합단지 더미와 불평등 지표, 그리고 두 변수의 상호작용항을 포함했습니다.</a:t>
            </a:r>
          </a:p>
          <a:p>
            <a:r>
              <a:rPr lang="ko-KR" altLang="ko-KR" dirty="0"/>
              <a:t>결과 그림을 보면, 붉은 실선이 혼합단지 거주자, 파란 점선이 독립단지 거주자입니다. 핵심은 두 집단의 차이입니다. </a:t>
            </a:r>
            <a:endParaRPr lang="en-US" altLang="ko-KR" dirty="0"/>
          </a:p>
          <a:p>
            <a:r>
              <a:rPr lang="ko-KR" altLang="ko-KR" dirty="0"/>
              <a:t>혼합단지에 사는 분들은 근린 불평등 수준과 무관하게 </a:t>
            </a:r>
            <a:r>
              <a:rPr lang="ko-KR" altLang="ko-KR" dirty="0" err="1"/>
              <a:t>소셜믹스</a:t>
            </a:r>
            <a:r>
              <a:rPr lang="ko-KR" altLang="ko-KR" dirty="0"/>
              <a:t> 선호가 0.7 안팎으로 높고 안정적으로 유지됩니다. </a:t>
            </a:r>
            <a:endParaRPr lang="en-US" altLang="ko-KR" dirty="0"/>
          </a:p>
          <a:p>
            <a:r>
              <a:rPr lang="ko-KR" altLang="ko-KR" dirty="0"/>
              <a:t>반면 독립단지 거주자는 선호가 전반적으로 낮을 뿐 아니라, 근린 불평등이 커질수록 선호가 함께 올라갑니다. 왼쪽 패널에서 0.354에서 0.482로, 오른쪽 패널에서도 0.374에서 0.444로 상승하는 것을 보실 수 있습니다. 다시 말해, 실제로 혼합단지에 거주해 본 경험이 </a:t>
            </a:r>
            <a:r>
              <a:rPr lang="ko-KR" altLang="ko-KR" dirty="0" err="1"/>
              <a:t>소셜믹스에</a:t>
            </a:r>
            <a:r>
              <a:rPr lang="ko-KR" altLang="ko-KR" dirty="0"/>
              <a:t> 대한 안정적 수용으로 이어진다는 점을 시사하며, 이는 정책 설계에 중요한 함의를 </a:t>
            </a:r>
            <a:r>
              <a:rPr lang="ko-KR" altLang="ko-KR"/>
              <a:t>줍니다.</a:t>
            </a:r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C9590-9769-BBFE-4A63-75C6D421C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25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3E6A-DCE9-2648-1315-7787E406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2275AE-D9B0-B5FE-3ECE-5BFE024A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6F4C5D-41A6-9FC5-604E-7E42D0238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57300" lvl="2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자치구는 면적과 인구 규모 모두에서 행정동보다 약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 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3EC50-4C3F-9901-42A4-6D4DA0CD4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A35ED-F3DD-4B2C-B714-6F478CEA717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28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C232-6C93-6429-F4BB-2EE22025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E824A-FE5F-43FF-16DC-2B309C8E4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2A522-204B-1B3C-3956-B21ED6FE9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D3EB1-D66F-25EB-85C0-066A88C23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80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행정자료의 진정한 가치는 단순히 더 많은 답을 제공하는 데 있지 않습니다. 오히려 기존 자료로는 던지기 어려웠던 질문을 가능하게 하고, 사회 현상을 바라보는 해상도 자체를 높여 준다는 데 있습니다.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오늘 세 연구는 주제가 다르지만 하나의 공통점이 있습니다. 모두 기존의 표본조사나 자치구 단위 통계로는 보이지 않던 질문을, 통계등록부 덕분에 비로소 던질 수 있게 되었다는 점입니다.</a:t>
            </a:r>
          </a:p>
          <a:p>
            <a:r>
              <a:rPr lang="ko-KR" altLang="en-US" dirty="0"/>
              <a:t>행정자료의 가치는 단순히 ‘데이터가 </a:t>
            </a:r>
            <a:r>
              <a:rPr lang="ko-KR" altLang="en-US" dirty="0" err="1"/>
              <a:t>많다’에</a:t>
            </a:r>
            <a:r>
              <a:rPr lang="ko-KR" altLang="en-US" dirty="0"/>
              <a:t> 있지 않습니다. 첫째, 전수 자료이기에 행정동처럼 작은 공간, 이주배경학생처럼 작은 집단까지 내려가도 분석이 무너지지 않습니다. 둘째, 통계목적고유번호를 통한 연계는 부모와 자녀, 가구와 소득, 그리고 한 가구의 이동 궤적을 이어 붙여, 단면이 아니라 관계와 시간을 보게 합니다. 한마디로, 행정자료는 더 많은 답을 주는 것이 아니라, 우리가 던질 수 있는 질문 자체를 바꿉니다.</a:t>
            </a:r>
          </a:p>
          <a:p>
            <a:r>
              <a:rPr lang="ko-KR" altLang="en-US" dirty="0"/>
              <a:t>물론 한계도 분명합니다. 등록부는 행정 시스템이 기록한 것만 담기에, 소득은 보여도 자산은 보이지 않고, 누가 이동했는지는 알 수 있어도 왜 이동했는지는 알 수 없습니다. 또 민감 정보일수록 집계 단위가 커져, 정작 세밀함이 가장 필요한 지점에서 해상도가 떨어지기도 합니다. 그래서 등록부는 만능 자료가 아니라, 잘 설계된 조사나 정책 변화와 결합될 때 비로소 인과적 질문까지 답할 수 있는 기반에 가깝습니다.</a:t>
            </a:r>
          </a:p>
          <a:p>
            <a:r>
              <a:rPr lang="ko-KR" altLang="en-US" dirty="0"/>
              <a:t>그럼에도 이 자료는 한국 사회과학 연구의 질문 수준을 한 단계 끌어올릴 잠재력을 갖고 있습니다. 연구자의 접근성과 연계 가능성이 넓어질수록, 그 잠재력은 더 큰 공공의 가치로 돌아올 것이라 믿습니다.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3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5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2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8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1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5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1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8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4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849D-5720-4562-AE75-126251427B06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C10DC-1F7D-4685-A5FC-7F1593F22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87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90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DA16849D-5720-4562-AE75-126251427B0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E4BC10DC-1F7D-4685-A5FC-7F1593F22D0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5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219456" y="0"/>
            <a:ext cx="85344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914400" y="1752600"/>
            <a:ext cx="1036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통계등록부</a:t>
            </a:r>
            <a:r>
              <a:rPr lang="ko-KR" altLang="en-US" sz="5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를</a:t>
            </a:r>
            <a:r>
              <a:rPr lang="en-US" sz="5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5400" b="1" dirty="0" err="1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활용</a:t>
            </a:r>
            <a:r>
              <a:rPr lang="ko-KR" altLang="en-US" sz="5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</a:t>
            </a:r>
            <a:r>
              <a:rPr lang="en-US" sz="5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사회과학 연구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3380232"/>
            <a:ext cx="5486400" cy="4876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914400" y="3581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최재성</a:t>
            </a:r>
            <a:endParaRPr lang="en-US" sz="3200" dirty="0"/>
          </a:p>
          <a:p>
            <a:r>
              <a:rPr lang="en-US" sz="28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성균관대학교 글로벌경제학과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57302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C3E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itchFamily="34" charset="-120"/>
              </a:rPr>
              <a:t>행정통계포럼</a:t>
            </a:r>
            <a:r>
              <a:rPr lang="en-US" b="1" dirty="0">
                <a:solidFill>
                  <a:srgbClr val="D4A57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itchFamily="34" charset="-120"/>
              </a:rPr>
              <a:t>  </a:t>
            </a:r>
            <a:r>
              <a:rPr lang="en-US" dirty="0">
                <a:solidFill>
                  <a:srgbClr val="2C3E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itchFamily="34" charset="-120"/>
              </a:rPr>
              <a:t>2026. 06. 18</a:t>
            </a:r>
            <a:endParaRPr lang="en-US" dirty="0">
              <a:solidFill>
                <a:srgbClr val="2C3E5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480" y="42672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목차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792480" y="1219200"/>
            <a:ext cx="1060704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792480" y="1524000"/>
            <a:ext cx="853440" cy="853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792480" y="152400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548384"/>
            <a:ext cx="9509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서울의 거주지 분리에 관한 연구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987296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8888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학령기 자녀를 둔 가구의 사회경제적 배경을 중심으로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792480" y="3108960"/>
            <a:ext cx="853440" cy="853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792480" y="3108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133344"/>
            <a:ext cx="9509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공공임대주택에 대한 연구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572256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8888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차별과 소셜믹스 선호, 그리고 근린 수준의 불평등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792480" y="4693920"/>
            <a:ext cx="853440" cy="853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792480" y="469392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718304"/>
            <a:ext cx="9509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통계등록부를 활용한 추가 연구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5157216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8888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부메랑 키즈 / 이주배경 학생과 학교폭력</a:t>
            </a:r>
            <a:endParaRPr lang="en-US" sz="17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480" y="1828800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92480" y="3230880"/>
            <a:ext cx="10607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서울의 거주지 분리에 관한 연구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792480" y="4120896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학령기 자녀를 둔 가구의 사회경제적 배경을 중심으로</a:t>
            </a:r>
            <a:endParaRPr lang="en-US" sz="21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1486EF8-0283-5EA9-2D96-5E91AD41360F}"/>
              </a:ext>
            </a:extLst>
          </p:cNvPr>
          <p:cNvGrpSpPr/>
          <p:nvPr/>
        </p:nvGrpSpPr>
        <p:grpSpPr>
          <a:xfrm>
            <a:off x="792480" y="1148458"/>
            <a:ext cx="10607040" cy="1289942"/>
            <a:chOff x="792480" y="1514218"/>
            <a:chExt cx="10607040" cy="1289942"/>
          </a:xfrm>
        </p:grpSpPr>
        <p:sp>
          <p:nvSpPr>
            <p:cNvPr id="5" name="Shape 3"/>
            <p:cNvSpPr/>
            <p:nvPr/>
          </p:nvSpPr>
          <p:spPr>
            <a:xfrm>
              <a:off x="792480" y="1514218"/>
              <a:ext cx="10607040" cy="1289942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E5E5E5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6" name="Text 4"/>
            <p:cNvSpPr/>
            <p:nvPr/>
          </p:nvSpPr>
          <p:spPr>
            <a:xfrm>
              <a:off x="1036320" y="1600200"/>
              <a:ext cx="10119360" cy="390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주거지</a:t>
              </a:r>
              <a:r>
                <a:rPr lang="en-US" sz="22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2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분리</a:t>
              </a:r>
              <a:r>
                <a:rPr lang="en-US" sz="22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(Residential Segregation)란?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36320" y="2145792"/>
              <a:ext cx="10119360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사회경제적 지위·소득·교육 수준·인종·민족 등에 따라 집단이 도시 내에서 공간적으로 분리되어 거주하는 현상</a:t>
              </a:r>
              <a:endParaRPr lang="en-US" sz="22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792480" y="2987040"/>
            <a:ext cx="73152" cy="877824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999744" y="2987040"/>
            <a:ext cx="10399776" cy="95097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가구의 사회경제적 배경(소득·교육수준·직업)과 밀접한 관련이 있으며, 주거 이동(Residential Mobility) 패턴을 통해 재생산되고 강화됨 (Sharp &amp; Iceland, 2013)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2480" y="4151376"/>
            <a:ext cx="73152" cy="877824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987809" y="4075543"/>
            <a:ext cx="10399776" cy="95097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최근 서울은 주택가격 급등, 재개발·재건축 편중, 교육·교통 인프라의 불균형 등으로 주거지 분리 심화 (김현수 외, 2021; 이윤상 외, 2023; 최석현, 2025)</a:t>
            </a:r>
          </a:p>
        </p:txBody>
      </p:sp>
      <p:sp>
        <p:nvSpPr>
          <p:cNvPr id="12" name="Shape 10"/>
          <p:cNvSpPr/>
          <p:nvPr/>
        </p:nvSpPr>
        <p:spPr>
          <a:xfrm>
            <a:off x="792480" y="5294376"/>
            <a:ext cx="73152" cy="877824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999744" y="5221224"/>
            <a:ext cx="10661904" cy="95097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주거지 분리는 아동의 교육 기회·발달 환경·사회적 관계 형성 전반에 </a:t>
            </a:r>
            <a:r>
              <a:rPr lang="en-US" sz="2200" dirty="0" err="1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부정적</a:t>
            </a:r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 </a:t>
            </a:r>
            <a:r>
              <a:rPr lang="en-US" sz="2200" dirty="0" err="1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영향</a:t>
            </a:r>
            <a:endParaRPr lang="en-US" sz="2200" dirty="0">
              <a:solidFill>
                <a:srgbClr val="4A4A4A"/>
              </a:solidFill>
              <a:latin typeface="NanumSquare" pitchFamily="34" charset="0"/>
              <a:ea typeface="NanumSquare" pitchFamily="34" charset="-122"/>
            </a:endParaRPr>
          </a:p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 → 사회이동성 저하 및 불평등 심화로 이어질 수 있음 (Chetty et al., 2014; 정수열 외, 2016)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DCB3AE-D6C2-8F3E-6ED2-C9A9370AAD8F}"/>
              </a:ext>
            </a:extLst>
          </p:cNvPr>
          <p:cNvSpPr txBox="1">
            <a:spLocks/>
          </p:cNvSpPr>
          <p:nvPr/>
        </p:nvSpPr>
        <p:spPr>
          <a:xfrm>
            <a:off x="335360" y="63370"/>
            <a:ext cx="10009112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나눔스퀘어" panose="020B0600000101010101" pitchFamily="50" charset="-127"/>
                <a:cs typeface="+mj-cs"/>
              </a:defRPr>
            </a:lvl1pPr>
          </a:lstStyle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연구배경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서울의 주거지 분리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92480" y="1682496"/>
            <a:ext cx="10607040" cy="1280160"/>
          </a:xfrm>
          <a:prstGeom prst="rect">
            <a:avLst/>
          </a:prstGeom>
          <a:solidFill>
            <a:srgbClr val="EEF2F7"/>
          </a:solidFill>
          <a:ln w="12700">
            <a:solidFill>
              <a:srgbClr val="2C3E5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4"/>
          <p:cNvSpPr/>
          <p:nvPr/>
        </p:nvSpPr>
        <p:spPr>
          <a:xfrm>
            <a:off x="792480" y="1682496"/>
            <a:ext cx="146304" cy="12801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1121664" y="1767840"/>
            <a:ext cx="10094976" cy="1072896"/>
          </a:xfrm>
          <a:prstGeom prst="rect">
            <a:avLst/>
          </a:prstGeom>
          <a:noFill/>
          <a:ln/>
        </p:spPr>
        <p:txBody>
          <a:bodyPr wrap="square" lIns="0" tIns="0" rIns="135467" bIns="0" rtlCol="0" anchor="ctr"/>
          <a:lstStyle/>
          <a:p>
            <a:r>
              <a:rPr lang="en-US" sz="28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학령기 자녀가 있는 가정을 중심으로 서울의 주거지 분리 변화를 살펴보고 잠재적 시사점을 도출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92480" y="3230880"/>
            <a:ext cx="34137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975360" y="3316224"/>
            <a:ext cx="609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53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사회경제적 배경</a:t>
            </a:r>
            <a:endParaRPr lang="en-US" sz="2133" dirty="0"/>
          </a:p>
        </p:txBody>
      </p:sp>
      <p:sp>
        <p:nvSpPr>
          <p:cNvPr id="11" name="Shape 9"/>
          <p:cNvSpPr/>
          <p:nvPr/>
        </p:nvSpPr>
        <p:spPr>
          <a:xfrm>
            <a:off x="9753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975360" y="4267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행정동 수준</a:t>
            </a:r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에서 서울의 주거지 분리 검토</a:t>
            </a:r>
            <a:endParaRPr lang="en-US" sz="2200" dirty="0"/>
          </a:p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(25개 구 / 424개 행정동)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50080" y="3230880"/>
            <a:ext cx="34137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4632960" y="3316224"/>
            <a:ext cx="609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329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가구 이동</a:t>
            </a:r>
            <a:endParaRPr lang="en-US" sz="2133" dirty="0"/>
          </a:p>
        </p:txBody>
      </p:sp>
      <p:sp>
        <p:nvSpPr>
          <p:cNvPr id="16" name="Shape 14"/>
          <p:cNvSpPr/>
          <p:nvPr/>
        </p:nvSpPr>
        <p:spPr>
          <a:xfrm>
            <a:off x="46329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4632960" y="4267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주거 이동의 측면에서 주거지 분리 문제 검토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07680" y="3230880"/>
            <a:ext cx="34137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8290560" y="3316224"/>
            <a:ext cx="609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905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아동 발달</a:t>
            </a:r>
            <a:endParaRPr lang="en-US" sz="2133" dirty="0"/>
          </a:p>
        </p:txBody>
      </p:sp>
      <p:sp>
        <p:nvSpPr>
          <p:cNvPr id="21" name="Shape 19"/>
          <p:cNvSpPr/>
          <p:nvPr/>
        </p:nvSpPr>
        <p:spPr>
          <a:xfrm>
            <a:off x="82905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8290560" y="4267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주거지 분리와 아동 발달 간의 관련성 검토</a:t>
            </a:r>
            <a:endParaRPr lang="en-US" sz="2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53BB810-7C92-5485-0A66-3BC59918A3E5}"/>
              </a:ext>
            </a:extLst>
          </p:cNvPr>
          <p:cNvSpPr txBox="1">
            <a:spLocks/>
          </p:cNvSpPr>
          <p:nvPr/>
        </p:nvSpPr>
        <p:spPr>
          <a:xfrm>
            <a:off x="335360" y="63370"/>
            <a:ext cx="10009112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나눔스퀘어" panose="020B0600000101010101" pitchFamily="50" charset="-127"/>
                <a:cs typeface="+mj-cs"/>
              </a:defRPr>
            </a:lvl1pPr>
          </a:lstStyle>
          <a:p>
            <a:pPr latinLnBrk="0"/>
            <a:r>
              <a:rPr lang="ko-KR" altLang="en-US" sz="3600" b="1" spc="-10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연구 질문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2636-3051-F206-171D-DF4EB9FB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E843E28-0DAB-A29C-B403-4A7AC80A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분석 자료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 err="1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아동가구통계등록부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F6D2D-5BB4-F18E-20C6-357FEAA8DBAC}"/>
              </a:ext>
            </a:extLst>
          </p:cNvPr>
          <p:cNvSpPr txBox="1"/>
          <p:nvPr/>
        </p:nvSpPr>
        <p:spPr>
          <a:xfrm>
            <a:off x="609600" y="1066800"/>
            <a:ext cx="10972800" cy="2139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인구통계등록부를 활용하여 만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18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 미만인 사람으로 아동 명부 구축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(11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 기준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2015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8,807,939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2023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6,994,550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아동의 주 양육자 파악을 위해 현재 같이 사는 양육부모 연계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C4F322-C498-405F-BDA3-4C4DF3F2F944}"/>
              </a:ext>
            </a:extLst>
          </p:cNvPr>
          <p:cNvGrpSpPr/>
          <p:nvPr/>
        </p:nvGrpSpPr>
        <p:grpSpPr>
          <a:xfrm>
            <a:off x="2667000" y="2971801"/>
            <a:ext cx="6858000" cy="3413400"/>
            <a:chOff x="3124200" y="3669508"/>
            <a:chExt cx="5943600" cy="2880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CC93201-46EC-3F3A-445B-B5D8F855E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0765" y="3669508"/>
              <a:ext cx="5510471" cy="28800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7D161B-2390-8826-98BD-6F9D1C370679}"/>
                </a:ext>
              </a:extLst>
            </p:cNvPr>
            <p:cNvSpPr/>
            <p:nvPr/>
          </p:nvSpPr>
          <p:spPr>
            <a:xfrm>
              <a:off x="3124200" y="5260865"/>
              <a:ext cx="5943600" cy="484909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07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2636-3051-F206-171D-DF4EB9FB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E843E28-0DAB-A29C-B403-4A7AC80A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분석 자료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취업통계등록부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취업활동편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F6D2D-5BB4-F18E-20C6-357FEAA8DBAC}"/>
              </a:ext>
            </a:extLst>
          </p:cNvPr>
          <p:cNvSpPr txBox="1"/>
          <p:nvPr/>
        </p:nvSpPr>
        <p:spPr>
          <a:xfrm>
            <a:off x="609600" y="1185642"/>
            <a:ext cx="10972800" cy="498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대보험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국세청 등 행정자료에 등록된 모든 일자리 정보를 토대로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 기준 모든 인구의 고용현황 수록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2015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51,069,375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2023년: 51,774,521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집계표는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시군구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단위로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제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개인정보에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민감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장애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국적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)한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항목은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시도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단위로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제공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취업활동편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개인의 연간 일자리 중 </a:t>
            </a:r>
            <a:r>
              <a:rPr lang="ko-KR" altLang="en-US" sz="24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소득이 가장 많은 일자리 하나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 표시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근로</a:t>
            </a:r>
            <a:r>
              <a:rPr lang="en-US" altLang="ko-KR" sz="24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4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사업소득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주된 기업의 종사상지위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연간 총소득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통계목적고유번호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)”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제공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124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BDEC-D77B-F63F-0605-030E9427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201FA5-8BD4-9939-80E2-025BC8B7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분석 결과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2023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년 소득 분포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20907E-C94D-C34E-EE7E-29B4E83BF366}"/>
              </a:ext>
            </a:extLst>
          </p:cNvPr>
          <p:cNvSpPr txBox="1"/>
          <p:nvPr/>
        </p:nvSpPr>
        <p:spPr>
          <a:xfrm>
            <a:off x="609600" y="702353"/>
            <a:ext cx="10972800" cy="114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 </a:t>
            </a:r>
            <a:r>
              <a:rPr lang="ko-KR" altLang="en-US" sz="24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간 격차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(2023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), ‘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가구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‘(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평균소득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 </a:t>
            </a:r>
            <a:r>
              <a:rPr lang="ko-KR" altLang="en-US" sz="2400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내에서도 행정동 사이의 소득 분포가 상당히 넓게 벌어짐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C83CA2-0B76-FBA5-0478-62E77CC951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68" y="1949400"/>
            <a:ext cx="7800864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8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96337-47E8-8007-8C72-4E611E5C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C021371-E6EA-6E1E-F07C-9B26A6D1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분석 결과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행정동 내 소득 변화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AFBA1-F56F-BA21-94AB-72F7A91187BF}"/>
              </a:ext>
            </a:extLst>
          </p:cNvPr>
          <p:cNvSpPr txBox="1"/>
          <p:nvPr/>
        </p:nvSpPr>
        <p:spPr>
          <a:xfrm>
            <a:off x="609600" y="728293"/>
            <a:ext cx="10972800" cy="1252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평균 소득 변화 정도 분포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2015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vs. 2023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강남구와 서초구의 변화 폭이 가장 크며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분포도 위쪽으로 넓게 퍼짐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시간이 지날수록 분리가 완화되기보다 오히려 벌어지고 있음을 시사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B31037-BA28-A3BD-7CA0-BD53BF4AC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68" y="2025600"/>
            <a:ext cx="7800864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281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7DC4-53C3-D25A-FD68-2AE1EFAF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7703C12-4747-FFB5-1E04-5A75B05C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분석 결과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사회경제적 배경 변화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6FB9D-870D-E9D5-39CA-319947F7F262}"/>
              </a:ext>
            </a:extLst>
          </p:cNvPr>
          <p:cNvSpPr txBox="1"/>
          <p:nvPr/>
        </p:nvSpPr>
        <p:spPr>
          <a:xfrm>
            <a:off x="609600" y="751528"/>
            <a:ext cx="10972800" cy="1686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사회경제적 배경 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변화</a:t>
            </a: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2015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vs. 2023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endParaRPr lang="en-US" altLang="ko-KR" sz="2200" b="1" spc="-100" dirty="0">
              <a:solidFill>
                <a:srgbClr val="5A78A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이혼 경험 아동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 단독 양육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 단독 양육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다문화 가정 비율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이러한 사회경제적 배경 지표들 역시 </a:t>
            </a:r>
            <a:r>
              <a:rPr lang="ko-KR" altLang="en-US" sz="2000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 사이에 상당한 편차를 보이며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b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가구 구조의 측면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에서도 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공간적 분화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진행되고 있음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3F6195-8B73-E842-7980-7132E1F639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635" y="2593200"/>
            <a:ext cx="6600731" cy="39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1836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5C8C-852E-EEF2-68D0-69A0B22F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6C81354-6518-6765-5E74-F44613F6B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학군지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이동 관련 가구 특성 검토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A76EF-C50F-105B-EE71-1EBD32D9E2AA}"/>
              </a:ext>
            </a:extLst>
          </p:cNvPr>
          <p:cNvSpPr txBox="1"/>
          <p:nvPr/>
        </p:nvSpPr>
        <p:spPr>
          <a:xfrm>
            <a:off x="609600" y="1004459"/>
            <a:ext cx="10972800" cy="595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r>
              <a:rPr lang="en-US" altLang="ko-KR" sz="2800" b="1" dirty="0">
                <a:solidFill>
                  <a:srgbClr val="5A78A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“</a:t>
            </a:r>
            <a:r>
              <a:rPr lang="ko-KR" altLang="en-US" sz="2800" b="1" dirty="0">
                <a:solidFill>
                  <a:srgbClr val="5A78A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누가</a:t>
            </a:r>
            <a:r>
              <a:rPr lang="en-US" altLang="ko-KR" sz="2800" b="1" dirty="0">
                <a:solidFill>
                  <a:srgbClr val="5A78A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</a:t>
            </a:r>
            <a:r>
              <a:rPr lang="ko-KR" altLang="en-US" sz="2800" b="1" dirty="0">
                <a:solidFill>
                  <a:srgbClr val="5A78A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언제 서울 내 학군지로 이동하는가</a:t>
            </a:r>
            <a:r>
              <a:rPr lang="en-US" altLang="ko-KR" sz="2800" b="1" dirty="0">
                <a:solidFill>
                  <a:srgbClr val="5A78A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?”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6410965-C3AD-67FF-FE19-60E71658997E}"/>
              </a:ext>
            </a:extLst>
          </p:cNvPr>
          <p:cNvGrpSpPr/>
          <p:nvPr/>
        </p:nvGrpSpPr>
        <p:grpSpPr>
          <a:xfrm>
            <a:off x="609600" y="1828800"/>
            <a:ext cx="10864908" cy="842659"/>
            <a:chOff x="609600" y="1976741"/>
            <a:chExt cx="10864908" cy="842659"/>
          </a:xfrm>
        </p:grpSpPr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6002738A-9E12-0226-04E3-53314DFDFEB9}"/>
                </a:ext>
              </a:extLst>
            </p:cNvPr>
            <p:cNvSpPr/>
            <p:nvPr/>
          </p:nvSpPr>
          <p:spPr>
            <a:xfrm>
              <a:off x="609600" y="1976741"/>
              <a:ext cx="147759" cy="842659"/>
            </a:xfrm>
            <a:prstGeom prst="rect">
              <a:avLst/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42B733B4-00EC-775C-F276-E48453729322}"/>
                </a:ext>
              </a:extLst>
            </p:cNvPr>
            <p:cNvSpPr/>
            <p:nvPr/>
          </p:nvSpPr>
          <p:spPr>
            <a:xfrm>
              <a:off x="762000" y="1976741"/>
              <a:ext cx="10712508" cy="842659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2C3E5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C8376FFD-1295-58FC-F6F0-8E5E6CADFF22}"/>
                </a:ext>
              </a:extLst>
            </p:cNvPr>
            <p:cNvSpPr/>
            <p:nvPr/>
          </p:nvSpPr>
          <p:spPr>
            <a:xfrm>
              <a:off x="1082248" y="2091544"/>
              <a:ext cx="10195352" cy="651656"/>
            </a:xfrm>
            <a:prstGeom prst="rect">
              <a:avLst/>
            </a:prstGeom>
            <a:noFill/>
            <a:ln/>
          </p:spPr>
          <p:txBody>
            <a:bodyPr wrap="square" lIns="0" tIns="0" rIns="10160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우선 분석 대상: 강남 14개 행정동 / 2021→2022년 거주 행정동이 달라진 아동</a:t>
              </a:r>
              <a:endParaRPr lang="en-US" sz="24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E281E5D-F41B-8100-2C57-A4D0807090E6}"/>
              </a:ext>
            </a:extLst>
          </p:cNvPr>
          <p:cNvSpPr txBox="1"/>
          <p:nvPr/>
        </p:nvSpPr>
        <p:spPr>
          <a:xfrm>
            <a:off x="609600" y="2895600"/>
            <a:ext cx="10972800" cy="348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연령별로 </a:t>
            </a:r>
            <a:r>
              <a:rPr lang="ko-KR" altLang="en-US" sz="2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강남 학군지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이동한 가구와 다른 지역으로 이동한 가구의 특성을 비교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Group 1 - </a:t>
            </a: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 시도에서 서울 내 학군지 이동 비율 </a:t>
            </a:r>
            <a:endParaRPr lang="en-US" altLang="ko-KR" sz="22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(</a:t>
            </a: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수원 </a:t>
            </a: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대치동</a:t>
            </a: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914400" lvl="1" indent="-4572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Group 2 -  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서울 내 다른 행정구에서 서울 내 학군지로 이동 비율 </a:t>
            </a:r>
            <a:endParaRPr lang="en-US" altLang="ko-KR" sz="2200" b="1" spc="-100" dirty="0">
              <a:solidFill>
                <a:srgbClr val="5A78A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	(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혜화동 </a:t>
            </a: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대치동</a:t>
            </a:r>
            <a:r>
              <a:rPr lang="en-US" altLang="ko-KR" sz="22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914400" lvl="1" indent="-457200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en-US" altLang="ko-KR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Group 3 -  </a:t>
            </a:r>
            <a:r>
              <a:rPr lang="ko-KR" altLang="en-US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동일 </a:t>
            </a:r>
            <a:r>
              <a:rPr lang="ko-KR" altLang="en-US" sz="2200" b="1" spc="-1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내에서 행정동이 변경된 이동 비율 </a:t>
            </a:r>
            <a:endParaRPr lang="en-US" altLang="ko-KR" sz="2200" b="1" spc="-100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algn="just">
              <a:lnSpc>
                <a:spcPct val="125000"/>
              </a:lnSpc>
              <a:spcAft>
                <a:spcPts val="600"/>
              </a:spcAft>
              <a:buClr>
                <a:srgbClr val="001132"/>
              </a:buClr>
            </a:pPr>
            <a:r>
              <a:rPr lang="en-US" altLang="ko-KR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	(</a:t>
            </a:r>
            <a:r>
              <a:rPr lang="ko-KR" altLang="en-US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논현동 </a:t>
            </a:r>
            <a:r>
              <a:rPr lang="en-US" altLang="ko-KR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대치동</a:t>
            </a:r>
            <a:r>
              <a:rPr lang="en-US" altLang="ko-KR" sz="2200" b="1" spc="-1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5095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ACC6-8FB9-12E8-53C2-4E59B45E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A05BE3E-C77A-9563-4EF0-4DA43F53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분석 결과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주거지 이동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(2021 to 2022)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1C9BB-80CD-EEF7-32DD-0AB5CFFC587B}"/>
              </a:ext>
            </a:extLst>
          </p:cNvPr>
          <p:cNvSpPr txBox="1"/>
          <p:nvPr/>
        </p:nvSpPr>
        <p:spPr>
          <a:xfrm>
            <a:off x="609600" y="849100"/>
            <a:ext cx="10972800" cy="578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서울 내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학군지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’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(vs. ‘</a:t>
            </a:r>
            <a:r>
              <a:rPr lang="ko-KR" altLang="en-US" sz="2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비학군지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‘)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이동하는 가구의 특성 검토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Linear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Probability Model</a:t>
            </a:r>
          </a:p>
          <a:p>
            <a:pPr marL="342900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200" b="1" dirty="0" err="1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2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변화</a:t>
            </a:r>
            <a:r>
              <a:rPr lang="en-US" altLang="ko-KR" sz="22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(Group 2)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vs. </a:t>
            </a:r>
            <a:r>
              <a:rPr lang="ko-KR" altLang="en-US" sz="2200" b="1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행정동만 변화</a:t>
            </a:r>
            <a:r>
              <a:rPr lang="en-US" altLang="ko-KR" sz="2200" b="1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(Group 3)</a:t>
            </a: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2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5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자녀의 나이가 초등 고학년에 해당하는 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세에서 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 구간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학군지 이동 확률 높음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2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학군지 이동이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사회경제적으로 선별적인 양상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보임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364775-9FCB-BF16-9B58-2E26A46CF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866" y="2057400"/>
            <a:ext cx="611026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9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480" y="1828800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92480" y="3230880"/>
            <a:ext cx="10607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공공임대주택에 대한 연구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792480" y="4120896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차별과 소셜믹스 선호, 그리고 근린 수준의 불평등</a:t>
            </a:r>
            <a:endParaRPr lang="en-US" sz="21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DF23-75F2-5DD3-FA44-B9B3352A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5105-26BC-12A6-A98E-67ECB694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0009112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연구배경 및 질문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3FF3A-8759-DC1D-4E2E-024390F4CB99}"/>
              </a:ext>
            </a:extLst>
          </p:cNvPr>
          <p:cNvSpPr txBox="1"/>
          <p:nvPr/>
        </p:nvSpPr>
        <p:spPr>
          <a:xfrm>
            <a:off x="609600" y="923633"/>
            <a:ext cx="10972800" cy="4461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2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공공임대주택은 주거를 안정적으로 확보하기 어려운 사람들에게 필수적인 사회안전망으로 기능</a:t>
            </a:r>
            <a:endParaRPr lang="en-US" altLang="ko-KR" sz="2200" b="1" dirty="0">
              <a:solidFill>
                <a:srgbClr val="5A78A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초기 대규모 공공임대주택 단지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서울 외곽 집중 조성 → 빈곤 집중과 사회적 낙인으로 이어짐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지난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 년간 서울시는 </a:t>
            </a:r>
            <a:r>
              <a:rPr lang="ko-KR" altLang="en-US" sz="2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소셜믹스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(Social Mix) 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정책을 강조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입주민 식별 가능성으로 인한 차별 위험 여전히 존재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완전한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소셜 믹스 정책에 대해 집주인 반발이 심함 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D04EDF-F332-1B2E-B52A-B1C5C546D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6" r="8569" b="59905"/>
          <a:stretch>
            <a:fillRect/>
          </a:stretch>
        </p:blipFill>
        <p:spPr bwMode="auto">
          <a:xfrm>
            <a:off x="2057400" y="2681971"/>
            <a:ext cx="7892684" cy="112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FF3CEB-10C3-A46A-8F79-53F3FAF24AD6}"/>
              </a:ext>
            </a:extLst>
          </p:cNvPr>
          <p:cNvGrpSpPr/>
          <p:nvPr/>
        </p:nvGrpSpPr>
        <p:grpSpPr>
          <a:xfrm>
            <a:off x="594360" y="5662826"/>
            <a:ext cx="11064240" cy="890374"/>
            <a:chOff x="594360" y="5791200"/>
            <a:chExt cx="7955280" cy="667512"/>
          </a:xfrm>
        </p:grpSpPr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C836454B-70BC-30EA-30ED-67AE983AACAE}"/>
                </a:ext>
              </a:extLst>
            </p:cNvPr>
            <p:cNvSpPr/>
            <p:nvPr/>
          </p:nvSpPr>
          <p:spPr>
            <a:xfrm>
              <a:off x="594360" y="5791200"/>
              <a:ext cx="7955280" cy="667512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2C3E5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3FFCF938-71E6-6790-BDFD-AD962120D105}"/>
                </a:ext>
              </a:extLst>
            </p:cNvPr>
            <p:cNvSpPr/>
            <p:nvPr/>
          </p:nvSpPr>
          <p:spPr>
            <a:xfrm>
              <a:off x="594360" y="5791200"/>
              <a:ext cx="109728" cy="667512"/>
            </a:xfrm>
            <a:prstGeom prst="rect">
              <a:avLst/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5C4C80F0-05E4-F9A2-0638-D374059807C6}"/>
                </a:ext>
              </a:extLst>
            </p:cNvPr>
            <p:cNvSpPr/>
            <p:nvPr/>
          </p:nvSpPr>
          <p:spPr>
            <a:xfrm>
              <a:off x="795528" y="5846064"/>
              <a:ext cx="7571232" cy="548640"/>
            </a:xfrm>
            <a:prstGeom prst="rect">
              <a:avLst/>
            </a:prstGeom>
            <a:noFill/>
            <a:ln/>
          </p:spPr>
          <p:txBody>
            <a:bodyPr wrap="square" lIns="0" tIns="0" rIns="101600" bIns="0" rtlCol="0" anchor="ctr"/>
            <a:lstStyle/>
            <a:p>
              <a:pPr marL="0" indent="0">
                <a:buNone/>
              </a:pP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차별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경험과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소셜믹스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선호는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혼합단지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거주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여부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및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근린지역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소득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불평등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정도에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따라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2100" b="1" dirty="0" err="1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다른가</a:t>
              </a:r>
              <a:r>
                <a:rPr lang="en-US" sz="21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?</a:t>
              </a:r>
              <a:endParaRPr lang="en-US" sz="2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8186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1010-15B9-C989-8758-30D6FE97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2F2D9D3-CD1D-504B-E6CD-EB8CD70E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1247040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인구통계등록부 통합분석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DB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활용 불평등 지표 산출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8FA60D-507A-8074-D9B9-BFF7DC5A0BAE}"/>
              </a:ext>
            </a:extLst>
          </p:cNvPr>
          <p:cNvSpPr txBox="1"/>
          <p:nvPr/>
        </p:nvSpPr>
        <p:spPr>
          <a:xfrm>
            <a:off x="609600" y="762000"/>
            <a:ext cx="10972800" cy="58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행정구별</a:t>
            </a:r>
            <a:r>
              <a:rPr lang="ko-KR" altLang="en-US" sz="2400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Gini </a:t>
            </a:r>
            <a:r>
              <a:rPr lang="ko-KR" altLang="en-US" sz="2400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계수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 소득 불평등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2020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서울 행정 구역 분포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424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vs.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자치구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25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</a:t>
            </a: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 평균 인구 약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26,000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vs. 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자치구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 평균 인구 약 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470,000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endParaRPr lang="en-US" altLang="ko-KR" sz="105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DE4F6A1-1AA7-9AD4-D2EB-0F85647878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883480"/>
              </p:ext>
            </p:extLst>
          </p:nvPr>
        </p:nvGraphicFramePr>
        <p:xfrm>
          <a:off x="2057400" y="1371600"/>
          <a:ext cx="80772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4278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BF6A-35AA-15D6-3194-6C43C69A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8E06B-0105-9939-FBE2-B35D5AEE29FE}"/>
              </a:ext>
            </a:extLst>
          </p:cNvPr>
          <p:cNvSpPr txBox="1"/>
          <p:nvPr/>
        </p:nvSpPr>
        <p:spPr>
          <a:xfrm>
            <a:off x="609600" y="704124"/>
            <a:ext cx="10972800" cy="592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400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행정동별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Gini 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계수 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 소득 불평등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2020</a:t>
            </a:r>
            <a:r>
              <a:rPr lang="ko-KR" altLang="en-US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년</a:t>
            </a:r>
            <a:r>
              <a:rPr lang="en-US" altLang="ko-KR" sz="24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just">
              <a:lnSpc>
                <a:spcPct val="150000"/>
              </a:lnSpc>
              <a:buClr>
                <a:srgbClr val="001132"/>
              </a:buClr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4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5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algn="just">
              <a:lnSpc>
                <a:spcPct val="150000"/>
              </a:lnSpc>
              <a:buClr>
                <a:srgbClr val="001132"/>
              </a:buClr>
            </a:pPr>
            <a:endParaRPr lang="en-US" altLang="ko-KR" sz="1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z="2200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행정구</a:t>
            </a:r>
            <a:r>
              <a:rPr lang="ko-KR" altLang="en-US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</a:t>
            </a:r>
            <a:r>
              <a:rPr lang="en-US" altLang="ko-KR" sz="22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200" b="1" u="sng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행정동 간 차이가 큼</a:t>
            </a:r>
            <a:endParaRPr lang="en-US" altLang="ko-KR" sz="22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551334-5429-6AF2-A9A7-9BD1DA0A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400" y="1348565"/>
            <a:ext cx="7920000" cy="47474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4482589-4D7D-6349-126F-6AD9CD63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1247040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불평등 지표 비교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 err="1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행정구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vs.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행정동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95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2590-029C-8A58-DB9A-648FA2476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표 18">
                <a:extLst>
                  <a:ext uri="{FF2B5EF4-FFF2-40B4-BE49-F238E27FC236}">
                    <a16:creationId xmlns:a16="http://schemas.microsoft.com/office/drawing/2014/main" id="{1FE07BE5-2DFC-227B-2BED-04FE970C73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650645"/>
                  </p:ext>
                </p:extLst>
              </p:nvPr>
            </p:nvGraphicFramePr>
            <p:xfrm>
              <a:off x="6781800" y="5771322"/>
              <a:ext cx="4800600" cy="9342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465845">
                      <a:extLst>
                        <a:ext uri="{9D8B030D-6E8A-4147-A177-3AD203B41FA5}">
                          <a16:colId xmlns:a16="http://schemas.microsoft.com/office/drawing/2014/main" val="4146973065"/>
                        </a:ext>
                      </a:extLst>
                    </a:gridCol>
                    <a:gridCol w="934454">
                      <a:extLst>
                        <a:ext uri="{9D8B030D-6E8A-4147-A177-3AD203B41FA5}">
                          <a16:colId xmlns:a16="http://schemas.microsoft.com/office/drawing/2014/main" val="247232607"/>
                        </a:ext>
                      </a:extLst>
                    </a:gridCol>
                    <a:gridCol w="985218">
                      <a:extLst>
                        <a:ext uri="{9D8B030D-6E8A-4147-A177-3AD203B41FA5}">
                          <a16:colId xmlns:a16="http://schemas.microsoft.com/office/drawing/2014/main" val="2839100849"/>
                        </a:ext>
                      </a:extLst>
                    </a:gridCol>
                    <a:gridCol w="1415083">
                      <a:extLst>
                        <a:ext uri="{9D8B030D-6E8A-4147-A177-3AD203B41FA5}">
                          <a16:colId xmlns:a16="http://schemas.microsoft.com/office/drawing/2014/main" val="251123552"/>
                        </a:ext>
                      </a:extLst>
                    </a:gridCol>
                  </a:tblGrid>
                  <a:tr h="324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행정동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𝓑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Weights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𝓑</m:t>
                              </m:r>
                              <m:r>
                                <a:rPr lang="en-US" sz="1400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Weights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3800561"/>
                      </a:ext>
                    </a:extLst>
                  </a:tr>
                  <a:tr h="218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무악동</a:t>
                          </a:r>
                          <a:endParaRPr lang="en-US" sz="1400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1.033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0.641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0.6621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20682229"/>
                      </a:ext>
                    </a:extLst>
                  </a:tr>
                  <a:tr h="218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교남동</a:t>
                          </a:r>
                          <a:endParaRPr lang="en-US" sz="1400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1.101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0.359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0.3634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8290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표 18">
                <a:extLst>
                  <a:ext uri="{FF2B5EF4-FFF2-40B4-BE49-F238E27FC236}">
                    <a16:creationId xmlns:a16="http://schemas.microsoft.com/office/drawing/2014/main" id="{1FE07BE5-2DFC-227B-2BED-04FE970C73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650645"/>
                  </p:ext>
                </p:extLst>
              </p:nvPr>
            </p:nvGraphicFramePr>
            <p:xfrm>
              <a:off x="6781800" y="5771322"/>
              <a:ext cx="4800600" cy="9342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465845">
                      <a:extLst>
                        <a:ext uri="{9D8B030D-6E8A-4147-A177-3AD203B41FA5}">
                          <a16:colId xmlns:a16="http://schemas.microsoft.com/office/drawing/2014/main" val="4146973065"/>
                        </a:ext>
                      </a:extLst>
                    </a:gridCol>
                    <a:gridCol w="934454">
                      <a:extLst>
                        <a:ext uri="{9D8B030D-6E8A-4147-A177-3AD203B41FA5}">
                          <a16:colId xmlns:a16="http://schemas.microsoft.com/office/drawing/2014/main" val="247232607"/>
                        </a:ext>
                      </a:extLst>
                    </a:gridCol>
                    <a:gridCol w="985218">
                      <a:extLst>
                        <a:ext uri="{9D8B030D-6E8A-4147-A177-3AD203B41FA5}">
                          <a16:colId xmlns:a16="http://schemas.microsoft.com/office/drawing/2014/main" val="2839100849"/>
                        </a:ext>
                      </a:extLst>
                    </a:gridCol>
                    <a:gridCol w="1415083">
                      <a:extLst>
                        <a:ext uri="{9D8B030D-6E8A-4147-A177-3AD203B41FA5}">
                          <a16:colId xmlns:a16="http://schemas.microsoft.com/office/drawing/2014/main" val="251123552"/>
                        </a:ext>
                      </a:extLst>
                    </a:gridCol>
                  </a:tblGrid>
                  <a:tr h="324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행정동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7516" t="-1852" r="-258824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Weights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39655" t="-1852" r="-862" b="-2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380056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무악동</a:t>
                          </a:r>
                          <a:endParaRPr lang="en-US" sz="1400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1.033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0.641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0.6621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206822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교남동</a:t>
                          </a:r>
                          <a:endParaRPr lang="en-US" sz="1400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1.101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0.359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0.3634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82908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EF8DB1A-6BD2-DCCE-B3E0-C644E64F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1247040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불평등 지수 생성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–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공공임대주택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연구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F8744C-82F5-2B8A-D282-3CA57C81A0C8}"/>
              </a:ext>
            </a:extLst>
          </p:cNvPr>
          <p:cNvSpPr/>
          <p:nvPr/>
        </p:nvSpPr>
        <p:spPr>
          <a:xfrm>
            <a:off x="8664109" y="3492037"/>
            <a:ext cx="268135" cy="660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AA7E1-D92D-DE5E-8EE3-2B54B90C4395}"/>
              </a:ext>
            </a:extLst>
          </p:cNvPr>
          <p:cNvSpPr txBox="1"/>
          <p:nvPr/>
        </p:nvSpPr>
        <p:spPr>
          <a:xfrm>
            <a:off x="609600" y="795005"/>
            <a:ext cx="10972800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행정동 수준에서 산출한 불평등 지표를 </a:t>
            </a:r>
            <a:r>
              <a:rPr lang="ko-KR" altLang="en-US" sz="2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행정구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 수준 분석에 활용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D833352-AEAA-3BA2-6B74-AB281831902E}"/>
              </a:ext>
            </a:extLst>
          </p:cNvPr>
          <p:cNvGrpSpPr/>
          <p:nvPr/>
        </p:nvGrpSpPr>
        <p:grpSpPr>
          <a:xfrm>
            <a:off x="7022186" y="2514600"/>
            <a:ext cx="4026814" cy="3100800"/>
            <a:chOff x="718643" y="1852200"/>
            <a:chExt cx="5605957" cy="4320000"/>
          </a:xfrm>
        </p:grpSpPr>
        <p:pic>
          <p:nvPicPr>
            <p:cNvPr id="15" name="그림 14" descr="텍스트, 지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DDA98CC-C094-039C-E09C-B0C275F8B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68" r="6772" b="3346"/>
            <a:stretch/>
          </p:blipFill>
          <p:spPr>
            <a:xfrm>
              <a:off x="1262793" y="1852200"/>
              <a:ext cx="5061807" cy="4320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B9FFE5-CE95-965E-41C7-D45286870FB6}"/>
                </a:ext>
              </a:extLst>
            </p:cNvPr>
            <p:cNvSpPr txBox="1"/>
            <p:nvPr/>
          </p:nvSpPr>
          <p:spPr>
            <a:xfrm>
              <a:off x="718643" y="5181600"/>
              <a:ext cx="1038883" cy="47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600" b="1" i="0" dirty="0">
                  <a:solidFill>
                    <a:srgbClr val="001D35"/>
                  </a:solidFill>
                  <a:effectLst/>
                  <a:latin typeface="Tahoma" panose="020B0604030504040204" pitchFamily="34" charset="0"/>
                  <a:ea typeface="나눔스퀘어" panose="020B0600000101010101" pitchFamily="50" charset="-127"/>
                </a:rPr>
                <a:t>무악동</a:t>
              </a:r>
              <a:endParaRPr lang="en-US" sz="1600" b="1" i="0" dirty="0">
                <a:solidFill>
                  <a:srgbClr val="001D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860F0-BC41-D9FA-0EFB-E32169FE77C2}"/>
                </a:ext>
              </a:extLst>
            </p:cNvPr>
            <p:cNvSpPr txBox="1"/>
            <p:nvPr/>
          </p:nvSpPr>
          <p:spPr>
            <a:xfrm>
              <a:off x="1170917" y="5727484"/>
              <a:ext cx="1038883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600" b="1" i="0" dirty="0">
                  <a:solidFill>
                    <a:srgbClr val="001D35"/>
                  </a:solidFill>
                  <a:effectLst/>
                  <a:latin typeface="Tahoma" panose="020B0604030504040204" pitchFamily="34" charset="0"/>
                  <a:ea typeface="나눔스퀘어" panose="020B0600000101010101" pitchFamily="50" charset="-127"/>
                </a:rPr>
                <a:t>교남동</a:t>
              </a:r>
              <a:endParaRPr lang="en-US" sz="1600" b="1" dirty="0">
                <a:latin typeface="Tahoma" panose="020B0604030504040204" pitchFamily="34" charset="0"/>
                <a:ea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9A930D-80A1-2B98-2229-AD457AFD551B}"/>
                  </a:ext>
                </a:extLst>
              </p:cNvPr>
              <p:cNvSpPr txBox="1"/>
              <p:nvPr/>
            </p:nvSpPr>
            <p:spPr>
              <a:xfrm>
                <a:off x="6781800" y="1379046"/>
                <a:ext cx="4602573" cy="983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ahoma" panose="020B0604030504040204" pitchFamily="34" charset="0"/>
                  </a:rPr>
                  <a:t>종로구 </a:t>
                </a:r>
                <a:r>
                  <a:rPr lang="en-US" altLang="ko-KR" b="1" dirty="0">
                    <a:solidFill>
                      <a:srgbClr val="5A78AD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Tahoma" panose="020B0604030504040204" pitchFamily="34" charset="0"/>
                  </a:rPr>
                  <a:t>50</a:t>
                </a:r>
                <a:r>
                  <a:rPr lang="ko-KR" altLang="en-US" b="1" dirty="0">
                    <a:solidFill>
                      <a:srgbClr val="5A78AD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Tahoma" panose="020B0604030504040204" pitchFamily="34" charset="0"/>
                  </a:rPr>
                  <a:t>년 장기임대주택</a:t>
                </a:r>
                <a:endParaRPr lang="en-US" altLang="ko-KR" b="1" dirty="0">
                  <a:solidFill>
                    <a:srgbClr val="5A78AD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endParaRPr>
              </a:p>
              <a:p>
                <a:pPr marL="8001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Weights: </a:t>
                </a:r>
                <a:r>
                  <a:rPr lang="ko-KR" alt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각 유형 임대주택 </a:t>
                </a:r>
                <a:r>
                  <a:rPr lang="ko-KR" altLang="en-US" sz="1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세대수</a:t>
                </a:r>
                <a:r>
                  <a:rPr lang="ko-KR" alt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비중</a:t>
                </a:r>
                <a:endPara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8001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𝓑</m:t>
                    </m:r>
                    <m:r>
                      <a:rPr lang="en-US" altLang="ko-KR" sz="16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의 가중평균</a:t>
                </a:r>
                <a:r>
                  <a:rPr lang="en-US" altLang="ko-KR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1.057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9A930D-80A1-2B98-2229-AD457AFD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379046"/>
                <a:ext cx="4602573" cy="983154"/>
              </a:xfrm>
              <a:prstGeom prst="rect">
                <a:avLst/>
              </a:prstGeom>
              <a:blipFill>
                <a:blip r:embed="rId5"/>
                <a:stretch>
                  <a:fillRect l="-927" b="-6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B40EEB39-8DA6-3961-6A50-C819417BC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326095"/>
            <a:ext cx="3960000" cy="33221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ABD2AB-946B-8FF7-2052-8081227448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8697"/>
          <a:stretch>
            <a:fillRect/>
          </a:stretch>
        </p:blipFill>
        <p:spPr>
          <a:xfrm>
            <a:off x="1318800" y="4724400"/>
            <a:ext cx="4320000" cy="198808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75774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A7F6-44B8-C1BD-9393-5FE6BDEA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16B3D8E-DD13-4E46-6C84-B798C239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1247040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분석 결과 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혼합단지 거주 선호 여부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C56747-4794-3F07-C3C1-CBB0F8B7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815"/>
          <a:stretch>
            <a:fillRect/>
          </a:stretch>
        </p:blipFill>
        <p:spPr>
          <a:xfrm>
            <a:off x="2679487" y="2745600"/>
            <a:ext cx="6833026" cy="39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22EC4-1E66-489B-7F3E-6D07EAA47EEF}"/>
                  </a:ext>
                </a:extLst>
              </p:cNvPr>
              <p:cNvSpPr txBox="1"/>
              <p:nvPr/>
            </p:nvSpPr>
            <p:spPr>
              <a:xfrm>
                <a:off x="5637627" y="2919046"/>
                <a:ext cx="283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22EC4-1E66-489B-7F3E-6D07EAA47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627" y="2919046"/>
                <a:ext cx="283732" cy="276999"/>
              </a:xfrm>
              <a:prstGeom prst="rect">
                <a:avLst/>
              </a:prstGeom>
              <a:blipFill>
                <a:blip r:embed="rId4"/>
                <a:stretch>
                  <a:fillRect l="-10870" r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B8085EAF-8DF0-0B2D-B75E-CBB4E5618407}"/>
              </a:ext>
            </a:extLst>
          </p:cNvPr>
          <p:cNvGrpSpPr/>
          <p:nvPr/>
        </p:nvGrpSpPr>
        <p:grpSpPr>
          <a:xfrm>
            <a:off x="1028700" y="1752600"/>
            <a:ext cx="9582778" cy="811903"/>
            <a:chOff x="1066800" y="1054332"/>
            <a:chExt cx="10237023" cy="945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EB16C69-1291-BDA5-665F-8F62E6F95853}"/>
                    </a:ext>
                  </a:extLst>
                </p:cNvPr>
                <p:cNvSpPr txBox="1"/>
                <p:nvPr/>
              </p:nvSpPr>
              <p:spPr>
                <a:xfrm>
                  <a:off x="1066800" y="1054332"/>
                  <a:ext cx="6820876" cy="6504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func>
                          <m:funcPr>
                            <m:ctrlPr>
                              <a:rPr lang="en-US" altLang="ko-KR" sz="16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ko-KR" sz="16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i="1" dirty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600" i="1" dirty="0" err="1">
                                            <a:latin typeface="Cambria Math" panose="02040503050406030204" pitchFamily="18" charset="0"/>
                                          </a:rPr>
                                          <m:t>𝑖𝑗𝑘𝑡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i="1" dirty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600" i="1" dirty="0" err="1">
                                            <a:latin typeface="Cambria Math" panose="02040503050406030204" pitchFamily="18" charset="0"/>
                                          </a:rPr>
                                          <m:t>𝑖𝑗𝑘𝑡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l-GR" altLang="ko-KR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l-GR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 dirty="0" err="1">
                            <a:latin typeface="Cambria Math" panose="02040503050406030204" pitchFamily="18" charset="0"/>
                          </a:rPr>
                          <m:t>𝑀𝑖𝑥𝑒𝑑𝐶𝑜𝑚𝑝𝑙𝑒</m:t>
                        </m:r>
                        <m:sSub>
                          <m:sSubPr>
                            <m:ctrlP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𝑖𝑗𝑡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𝑖𝑗𝑡</m:t>
                            </m:r>
                          </m:sub>
                        </m:sSub>
                      </m:oMath>
                    </m:oMathPara>
                  </a14:m>
                  <a:br>
                    <a:rPr lang="en-US" altLang="ko-KR" sz="1600" i="1" dirty="0">
                      <a:latin typeface="Cambria Math" panose="02040503050406030204" pitchFamily="18" charset="0"/>
                    </a:rPr>
                  </a:br>
                  <a:endParaRPr lang="en-US" altLang="ko-KR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EB16C69-1291-BDA5-665F-8F62E6F95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1054332"/>
                  <a:ext cx="6820876" cy="6504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F194615-32F6-807F-67D5-F2DD5DA3357E}"/>
                    </a:ext>
                  </a:extLst>
                </p:cNvPr>
                <p:cNvSpPr txBox="1"/>
                <p:nvPr/>
              </p:nvSpPr>
              <p:spPr>
                <a:xfrm>
                  <a:off x="2654147" y="1689954"/>
                  <a:ext cx="8649676" cy="309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1600" i="1" dirty="0" err="1">
                            <a:latin typeface="Cambria Math" panose="02040503050406030204" pitchFamily="18" charset="0"/>
                          </a:rPr>
                          <m:t>𝑀𝑖𝑥𝑒𝑑𝐶𝑜𝑚𝑝𝑙𝑒</m:t>
                        </m:r>
                        <m:sSub>
                          <m:sSubPr>
                            <m:ctrlP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 err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𝑖𝑗𝑡</m:t>
                            </m:r>
                          </m:sub>
                        </m:sSub>
                        <m: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  <m:t>＋</m:t>
                        </m:r>
                        <m:sSub>
                          <m:sSubPr>
                            <m:ctrlPr>
                              <a:rPr lang="el-GR" altLang="ko-KR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l-GR" altLang="ko-KR" sz="160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ko-KR" sz="1600" i="1" dirty="0" err="1">
                            <a:latin typeface="Cambria Math" panose="02040503050406030204" pitchFamily="18" charset="0"/>
                          </a:rPr>
                          <m:t>𝑀𝑖𝑥𝑒𝑑𝐶𝑜𝑚𝑝𝑙𝑒</m:t>
                        </m:r>
                        <m:sSub>
                          <m:sSubPr>
                            <m:ctrlP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 err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𝑖𝑗𝑡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600" i="1" dirty="0" err="1">
                                <a:latin typeface="Cambria Math" panose="02040503050406030204" pitchFamily="18" charset="0"/>
                              </a:rPr>
                              <m:t>𝑖𝑗𝑘𝑡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sz="1600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altLang="ko-KR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F194615-32F6-807F-67D5-F2DD5DA33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147" y="1689954"/>
                  <a:ext cx="8649676" cy="309777"/>
                </a:xfrm>
                <a:prstGeom prst="rect">
                  <a:avLst/>
                </a:prstGeom>
                <a:blipFill>
                  <a:blip r:embed="rId6"/>
                  <a:stretch>
                    <a:fillRect b="-2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54344D-5BCD-8B7A-A815-D627FCA78F93}"/>
              </a:ext>
            </a:extLst>
          </p:cNvPr>
          <p:cNvSpPr txBox="1"/>
          <p:nvPr/>
        </p:nvSpPr>
        <p:spPr>
          <a:xfrm>
            <a:off x="609600" y="795005"/>
            <a:ext cx="10972800" cy="88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2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혼합단지 거주 유무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와 </a:t>
            </a:r>
            <a:r>
              <a:rPr lang="ko-KR" altLang="en-US" sz="2200" b="1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근린지역 불평등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의 관계 추정 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- Logit 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모형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200" b="1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서울시공공임대주택입주자</a:t>
            </a:r>
            <a:r>
              <a:rPr lang="ko-KR" altLang="en-US" sz="22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 패널조사</a:t>
            </a:r>
            <a:r>
              <a:rPr lang="en-US" altLang="ko-KR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 3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개 연도 사용</a:t>
            </a:r>
            <a:endParaRPr lang="en-US" altLang="ko-KR" sz="2200" dirty="0">
              <a:latin typeface="나눔스퀘어" panose="020B0600000101010101" pitchFamily="50" charset="-127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79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480" y="1828800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92480" y="3230880"/>
            <a:ext cx="10607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통계등록부를 활용한 추가 연구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792480" y="4120896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부메랑 키즈  ·  이주배경 학생과 학교폭력</a:t>
            </a:r>
            <a:endParaRPr lang="en-US" sz="21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67406-0CB0-C724-66D0-27D924A2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FFD69-0CAC-D409-841F-8045BA6784AF}"/>
              </a:ext>
            </a:extLst>
          </p:cNvPr>
          <p:cNvSpPr txBox="1"/>
          <p:nvPr/>
        </p:nvSpPr>
        <p:spPr>
          <a:xfrm>
            <a:off x="609600" y="685800"/>
            <a:ext cx="10972800" cy="6025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5000"/>
              </a:lnSpc>
              <a:buClr>
                <a:srgbClr val="001132"/>
              </a:buClr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부메랑 귀환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청년층의 계층 격차를 재생산</a:t>
            </a:r>
            <a:r>
              <a:rPr lang="ko-KR" altLang="en-US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 구조적 메커니즘으로 작동하는가</a:t>
            </a:r>
            <a:r>
              <a:rPr lang="en-US" altLang="ko-KR" sz="2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?”</a:t>
            </a: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청년통계등록부</a:t>
            </a:r>
            <a:r>
              <a:rPr lang="en-US" altLang="ko-KR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spc="-100" dirty="0" err="1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취업활동통계등록부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 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25~34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약 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466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 명</a:t>
            </a:r>
            <a:endParaRPr lang="en-US" altLang="ko-KR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동거 시점 가구소득 비교 및 </a:t>
            </a:r>
            <a:r>
              <a:rPr lang="ko-KR" altLang="en-US" b="1" spc="-100" dirty="0">
                <a:solidFill>
                  <a:srgbClr val="5A78A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직장 규모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변화에 대한 다항 로지스틱 회귀분석</a:t>
            </a: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just">
              <a:lnSpc>
                <a:spcPct val="135000"/>
              </a:lnSpc>
              <a:buClr>
                <a:srgbClr val="001132"/>
              </a:buClr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en-US" altLang="ko-KR" sz="20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결과</a:t>
            </a:r>
          </a:p>
          <a:p>
            <a:pPr marL="800100" lvl="1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소득 쏠림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부메랑 </a:t>
            </a:r>
            <a:r>
              <a:rPr lang="ko-KR" altLang="en-US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키즈</a:t>
            </a:r>
            <a:r>
              <a:rPr lang="ko-KR" altLang="en-US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가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비부메랑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키즈보다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평균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가구소득이 높고 최상위 계층에 집중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됨</a:t>
            </a:r>
            <a:endParaRPr lang="en-US" altLang="ko-KR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계층별 격차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재독립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시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상위 소득층은 대</a:t>
            </a:r>
            <a:r>
              <a:rPr lang="en-US" altLang="ko-KR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중견기업 등 양질의 일자리 진입 확률이 크게 상승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하나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</a:t>
            </a:r>
            <a:r>
              <a:rPr lang="en-US" altLang="ko-KR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하위층은 취업 개선 효과가 미미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</a:t>
            </a:r>
            <a:endParaRPr lang="en-US" altLang="ko-KR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endParaRPr lang="ko-KR" altLang="en-US" sz="500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algn="just">
              <a:lnSpc>
                <a:spcPct val="135000"/>
              </a:lnSpc>
              <a:buClr>
                <a:srgbClr val="001132"/>
              </a:buClr>
              <a:buFont typeface="Arial" panose="020B0604020202020204" pitchFamily="34" charset="0"/>
              <a:buChar char="•"/>
            </a:pP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시사점</a:t>
            </a: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부모의 경제력이 노동시장 상향 이동을 위한 기회로 작용하여 불평등 고착화</a:t>
            </a:r>
            <a:endParaRPr lang="en-US" altLang="ko-KR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just">
              <a:lnSpc>
                <a:spcPct val="135000"/>
              </a:lnSpc>
              <a:buClr>
                <a:srgbClr val="001132"/>
              </a:buClr>
            </a:pPr>
            <a:r>
              <a:rPr lang="en-US" altLang="ko-KR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   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부모에게 의존할 수 없는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저소득 청년을 위한 공공 안전망</a:t>
            </a:r>
            <a:r>
              <a:rPr lang="en-US" altLang="ko-KR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확대 및 맞춤형 직업훈련</a:t>
            </a:r>
            <a:r>
              <a:rPr lang="ko-KR" altLang="en-US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필요</a:t>
            </a:r>
            <a:endParaRPr lang="en-US" altLang="ko-KR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611747C-F01B-57E3-F08D-9F1535B7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3370"/>
            <a:ext cx="11247040" cy="609600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부메랑 </a:t>
            </a:r>
            <a:r>
              <a:rPr lang="ko-KR" altLang="en-US" sz="3600" b="1" spc="-100" dirty="0" err="1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키즈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현상의 계층적 양상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7840DF-9552-29BA-7726-7B8005CA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33" y="2052000"/>
            <a:ext cx="670013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6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524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이주배경학생과 학교폭력</a:t>
            </a:r>
            <a:endParaRPr lang="en-US" sz="36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6422550-B29D-BE5A-3469-E3FED0644525}"/>
              </a:ext>
            </a:extLst>
          </p:cNvPr>
          <p:cNvGrpSpPr/>
          <p:nvPr/>
        </p:nvGrpSpPr>
        <p:grpSpPr>
          <a:xfrm>
            <a:off x="792480" y="4572000"/>
            <a:ext cx="10607040" cy="1975104"/>
            <a:chOff x="792480" y="4450080"/>
            <a:chExt cx="10607040" cy="1975104"/>
          </a:xfrm>
        </p:grpSpPr>
        <p:sp>
          <p:nvSpPr>
            <p:cNvPr id="11" name="Shape 9"/>
            <p:cNvSpPr/>
            <p:nvPr/>
          </p:nvSpPr>
          <p:spPr>
            <a:xfrm>
              <a:off x="792480" y="4450080"/>
              <a:ext cx="10607040" cy="1975104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E5E5E5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792480" y="4450080"/>
              <a:ext cx="146304" cy="1975104"/>
            </a:xfrm>
            <a:prstGeom prst="rect">
              <a:avLst/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3" name="Text 11"/>
            <p:cNvSpPr/>
            <p:nvPr/>
          </p:nvSpPr>
          <p:spPr>
            <a:xfrm>
              <a:off x="1060704" y="4535424"/>
              <a:ext cx="10094976" cy="390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67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분석 방법론</a:t>
              </a:r>
              <a:endParaRPr lang="en-US" sz="1867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60704" y="4974336"/>
              <a:ext cx="1009497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1.  </a:t>
              </a:r>
              <a:r>
                <a:rPr lang="ko-KR" altLang="en-US" sz="1867" b="1" dirty="0">
                  <a:solidFill>
                    <a:srgbClr val="5A78AD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NanumSquare" pitchFamily="34" charset="-120"/>
                </a:rPr>
                <a:t>아동</a:t>
              </a:r>
              <a:r>
                <a:rPr lang="en-US" sz="1867" b="1" dirty="0" err="1">
                  <a:solidFill>
                    <a:srgbClr val="5A78AD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NanumSquare" pitchFamily="34" charset="-120"/>
                </a:rPr>
                <a:t>통계등록부</a:t>
              </a:r>
              <a:r>
                <a:rPr lang="en-US" sz="1867" dirty="0">
                  <a:solidFill>
                    <a:srgbClr val="5A78AD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NanumSquare" pitchFamily="34" charset="-120"/>
                </a:rPr>
                <a:t> 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국적 정보 → 행정동 수준에서 연령별 이주배경학생 비율 산출</a:t>
              </a:r>
              <a:endParaRPr lang="en-US" sz="1867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60704" y="5401056"/>
              <a:ext cx="1009497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2.  이주배경학생 비율 변화와 학교폭력(유형별) 발생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관계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검토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(</a:t>
              </a:r>
              <a:r>
                <a:rPr lang="ko-KR" alt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학교폭력실태조사</a:t>
              </a:r>
              <a:r>
                <a:rPr lang="en-US" altLang="ko-KR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&amp; </a:t>
              </a:r>
              <a:r>
                <a:rPr lang="ko-KR" alt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학폭위</a:t>
              </a:r>
              <a:r>
                <a:rPr lang="ko-KR" alt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공시 정보</a:t>
              </a:r>
              <a:r>
                <a:rPr lang="en-US" altLang="ko-KR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)</a:t>
              </a:r>
              <a:endParaRPr lang="en-US" sz="1867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60704" y="5827776"/>
              <a:ext cx="1009497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3. 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정책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변화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(</a:t>
              </a:r>
              <a:r>
                <a:rPr lang="ko-KR" altLang="en-US" sz="1867" b="1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다문화정책학교</a:t>
              </a:r>
              <a:r>
                <a:rPr lang="en-US" altLang="ko-KR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)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를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이용한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</a:t>
              </a:r>
              <a:r>
                <a:rPr lang="en-US" sz="1867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인과추론</a:t>
              </a:r>
              <a:r>
                <a:rPr lang="en-US" sz="1867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 시도</a:t>
              </a:r>
              <a:endParaRPr lang="en-US" sz="1867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B947F3-1064-F8FA-2039-E7DC74562820}"/>
              </a:ext>
            </a:extLst>
          </p:cNvPr>
          <p:cNvGrpSpPr/>
          <p:nvPr/>
        </p:nvGrpSpPr>
        <p:grpSpPr>
          <a:xfrm>
            <a:off x="789375" y="990600"/>
            <a:ext cx="10610145" cy="3200400"/>
            <a:chOff x="789375" y="1066800"/>
            <a:chExt cx="10610145" cy="320040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759F599-6B30-64BB-AC86-A52322DC88E3}"/>
                </a:ext>
              </a:extLst>
            </p:cNvPr>
            <p:cNvGrpSpPr/>
            <p:nvPr/>
          </p:nvGrpSpPr>
          <p:grpSpPr>
            <a:xfrm>
              <a:off x="792480" y="1066800"/>
              <a:ext cx="10607040" cy="670560"/>
              <a:chOff x="792480" y="1767840"/>
              <a:chExt cx="10607040" cy="67056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792480" y="1767840"/>
                <a:ext cx="73152" cy="670560"/>
              </a:xfrm>
              <a:prstGeom prst="rect">
                <a:avLst/>
              </a:prstGeom>
              <a:solidFill>
                <a:srgbClr val="D4A574"/>
              </a:solidFill>
              <a:ln w="12700">
                <a:solidFill>
                  <a:srgbClr val="D4A574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40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999744" y="1816608"/>
                <a:ext cx="10399776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101600" rIns="0" bIns="0" rtlCol="0" anchor="ctr"/>
              <a:lstStyle/>
              <a:p>
                <a:r>
                  <a:rPr 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이주배경학생의 가파른 증가 → 특정 지역에 </a:t>
                </a:r>
                <a:r>
                  <a:rPr lang="en-US" sz="2000" b="1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밀집</a:t>
                </a:r>
                <a:r>
                  <a:rPr 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되는 경향</a:t>
                </a:r>
                <a:endParaRPr lang="en-US" sz="2000" dirty="0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739A3BE-2410-89F1-FC76-7AC3F2D45379}"/>
                </a:ext>
              </a:extLst>
            </p:cNvPr>
            <p:cNvGrpSpPr/>
            <p:nvPr/>
          </p:nvGrpSpPr>
          <p:grpSpPr>
            <a:xfrm>
              <a:off x="792480" y="1816608"/>
              <a:ext cx="10607040" cy="697992"/>
              <a:chOff x="792480" y="2694432"/>
              <a:chExt cx="10607040" cy="697992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792480" y="2721864"/>
                <a:ext cx="73152" cy="670560"/>
              </a:xfrm>
              <a:prstGeom prst="rect">
                <a:avLst/>
              </a:prstGeom>
              <a:solidFill>
                <a:srgbClr val="D4A574"/>
              </a:solidFill>
              <a:ln w="12700">
                <a:solidFill>
                  <a:srgbClr val="D4A574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40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999744" y="2694432"/>
                <a:ext cx="10399776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101600" rIns="0" bIns="0" rtlCol="0" anchor="ctr"/>
              <a:lstStyle/>
              <a:p>
                <a:r>
                  <a:rPr 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학교폭력은 전반적으로 감소 추세이나, </a:t>
                </a:r>
                <a:r>
                  <a:rPr lang="en-US" sz="2000" b="1" dirty="0" err="1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초등학교</a:t>
                </a:r>
                <a:r>
                  <a:rPr 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 </a:t>
                </a:r>
                <a:r>
                  <a:rPr lang="ko-KR" alt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수준</a:t>
                </a:r>
                <a:r>
                  <a:rPr lang="en-US" sz="2000" dirty="0" err="1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에서는</a:t>
                </a:r>
                <a:r>
                  <a:rPr lang="en-US" sz="2000" dirty="0">
                    <a:solidFill>
                      <a:srgbClr val="4A4A4A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 여전히 높은 수준</a:t>
                </a:r>
                <a:endParaRPr lang="en-US" sz="2000" dirty="0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46C2EF9-4E35-6BE0-BBEC-20502FB833A0}"/>
                </a:ext>
              </a:extLst>
            </p:cNvPr>
            <p:cNvGrpSpPr/>
            <p:nvPr/>
          </p:nvGrpSpPr>
          <p:grpSpPr>
            <a:xfrm>
              <a:off x="792480" y="3596640"/>
              <a:ext cx="10597896" cy="670560"/>
              <a:chOff x="792480" y="3523488"/>
              <a:chExt cx="10597896" cy="67056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792480" y="3523488"/>
                <a:ext cx="73152" cy="670560"/>
              </a:xfrm>
              <a:prstGeom prst="rect">
                <a:avLst/>
              </a:prstGeom>
              <a:solidFill>
                <a:srgbClr val="D4A574"/>
              </a:solidFill>
              <a:ln w="12700">
                <a:solidFill>
                  <a:srgbClr val="D4A574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40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990600" y="3529851"/>
                <a:ext cx="10399776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101600" rIns="0" bIns="0" rtlCol="0" anchor="ctr"/>
              <a:lstStyle/>
              <a:p>
                <a:r>
                  <a:rPr lang="en-US" sz="2000" b="1" dirty="0">
                    <a:solidFill>
                      <a:srgbClr val="5A78AD"/>
                    </a:solidFill>
                    <a:latin typeface="NanumSquare" pitchFamily="34" charset="0"/>
                    <a:ea typeface="NanumSquare" pitchFamily="34" charset="-122"/>
                    <a:cs typeface="NanumSquare" pitchFamily="34" charset="-120"/>
                  </a:rPr>
                  <a:t>학교별 이주배경학생 수는 민감 정보로 분류되어 공개되지 않음</a:t>
                </a:r>
                <a:endParaRPr lang="en-US" sz="2000" b="1" dirty="0">
                  <a:solidFill>
                    <a:srgbClr val="5A78AD"/>
                  </a:solidFill>
                </a:endParaRPr>
              </a:p>
            </p:txBody>
          </p:sp>
        </p:grpSp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6D1180ED-6064-FEF3-474B-2FB06DD44023}"/>
                </a:ext>
              </a:extLst>
            </p:cNvPr>
            <p:cNvSpPr/>
            <p:nvPr/>
          </p:nvSpPr>
          <p:spPr>
            <a:xfrm>
              <a:off x="789375" y="2590800"/>
              <a:ext cx="73152" cy="892516"/>
            </a:xfrm>
            <a:prstGeom prst="rect">
              <a:avLst/>
            </a:prstGeom>
            <a:solidFill>
              <a:srgbClr val="D4A574"/>
            </a:solidFill>
            <a:ln w="12700">
              <a:solidFill>
                <a:srgbClr val="D4A574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3EF1C9CE-9506-9A4C-F79C-282BCF5AD573}"/>
                </a:ext>
              </a:extLst>
            </p:cNvPr>
            <p:cNvSpPr/>
            <p:nvPr/>
          </p:nvSpPr>
          <p:spPr>
            <a:xfrm>
              <a:off x="996639" y="2895600"/>
              <a:ext cx="10399776" cy="609600"/>
            </a:xfrm>
            <a:prstGeom prst="rect">
              <a:avLst/>
            </a:prstGeom>
            <a:noFill/>
            <a:ln/>
          </p:spPr>
          <p:txBody>
            <a:bodyPr wrap="square" lIns="0" tIns="101600" rIns="0" bIns="0" rtlCol="0" anchor="ctr"/>
            <a:lstStyle/>
            <a:p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이주배경학생은 내국인 학생보다 </a:t>
              </a:r>
              <a:r>
                <a:rPr lang="ko-KR" altLang="en-US" sz="2000" b="1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집단 따돌림</a:t>
              </a:r>
              <a:r>
                <a:rPr lang="en-US" altLang="ko-KR" sz="2000" b="1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·</a:t>
              </a:r>
              <a:r>
                <a:rPr lang="ko-KR" altLang="en-US" sz="2000" b="1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소외 등 관계적 폭력</a:t>
              </a:r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에 더 취약</a:t>
              </a:r>
              <a:endParaRPr lang="en-US" altLang="ko-KR" sz="20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endParaRPr>
            </a:p>
            <a:p>
              <a:r>
                <a:rPr lang="ko-KR" altLang="en-US" sz="2000" b="1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지지 기반의 부재</a:t>
              </a:r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로 인해 피해 시 정서적 타격</a:t>
              </a:r>
              <a:r>
                <a:rPr lang="en-US" altLang="ko-KR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(</a:t>
              </a:r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우울</a:t>
              </a:r>
              <a:r>
                <a:rPr lang="en-US" altLang="ko-KR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·</a:t>
              </a:r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자아존중감 저하</a:t>
              </a:r>
              <a:r>
                <a:rPr lang="en-US" altLang="ko-KR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)</a:t>
              </a:r>
              <a:r>
                <a:rPr lang="ko-KR" altLang="en-US" sz="20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이 훨씬 치명적임</a:t>
              </a:r>
              <a:endParaRPr lang="en-US" altLang="ko-KR" sz="20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endParaRPr>
            </a:p>
            <a:p>
              <a:r>
                <a:rPr lang="en-US" altLang="ko-KR" sz="16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(</a:t>
              </a:r>
              <a:r>
                <a:rPr lang="ko-KR" altLang="en-US" sz="1600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오인수</a:t>
              </a:r>
              <a:r>
                <a:rPr lang="en-US" altLang="ko-KR" sz="16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, 2014; </a:t>
              </a:r>
              <a:r>
                <a:rPr lang="ko-KR" altLang="en-US" sz="1600" dirty="0" err="1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조윤주</a:t>
              </a:r>
              <a:r>
                <a:rPr lang="en-US" altLang="ko-KR" sz="16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·</a:t>
              </a:r>
              <a:r>
                <a:rPr lang="ko-KR" altLang="en-US" sz="16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이승연</a:t>
              </a:r>
              <a:r>
                <a:rPr lang="en-US" altLang="ko-KR" sz="1600" dirty="0">
                  <a:solidFill>
                    <a:srgbClr val="4A4A4A"/>
                  </a:solidFill>
                  <a:latin typeface="NanumSquare" pitchFamily="34" charset="0"/>
                  <a:ea typeface="NanumSquare" pitchFamily="34" charset="-122"/>
                </a:rPr>
                <a:t>, 2020)</a:t>
              </a:r>
              <a:endParaRPr lang="en-US" altLang="ko-KR" sz="1600" dirty="0"/>
            </a:p>
            <a:p>
              <a:endParaRPr lang="en-US" sz="20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A7F66-BC8F-25E0-0574-C8ED5714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5D49CA-D66F-3DC0-C86F-0A5537C28293}"/>
              </a:ext>
            </a:extLst>
          </p:cNvPr>
          <p:cNvSpPr/>
          <p:nvPr/>
        </p:nvSpPr>
        <p:spPr>
          <a:xfrm>
            <a:off x="792480" y="1828800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 dirty="0">
                <a:solidFill>
                  <a:srgbClr val="D4A5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3A8F14-29B3-E6B7-FB4E-681DE5F8111A}"/>
              </a:ext>
            </a:extLst>
          </p:cNvPr>
          <p:cNvSpPr/>
          <p:nvPr/>
        </p:nvSpPr>
        <p:spPr>
          <a:xfrm>
            <a:off x="792480" y="3230880"/>
            <a:ext cx="10607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733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통계등록부 가치와 과제</a:t>
            </a:r>
            <a:endParaRPr lang="en-US" sz="37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A0C667-164E-605D-3044-3DFF7FCB4D5A}"/>
              </a:ext>
            </a:extLst>
          </p:cNvPr>
          <p:cNvSpPr/>
          <p:nvPr/>
        </p:nvSpPr>
        <p:spPr>
          <a:xfrm>
            <a:off x="792480" y="4120896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더 깊은 질문</a:t>
            </a:r>
            <a:r>
              <a:rPr 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 ·  </a:t>
            </a:r>
            <a:r>
              <a:rPr lang="ko-KR" alt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더 높은 해상도</a:t>
            </a:r>
            <a:r>
              <a:rPr lang="en-US" altLang="ko-KR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2133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더 큰 공공적 가치</a:t>
            </a: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4027033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C75B94C-E791-8766-1F94-272C187720EE}"/>
              </a:ext>
            </a:extLst>
          </p:cNvPr>
          <p:cNvGrpSpPr/>
          <p:nvPr/>
        </p:nvGrpSpPr>
        <p:grpSpPr>
          <a:xfrm>
            <a:off x="1091664" y="1310640"/>
            <a:ext cx="10109736" cy="1280160"/>
            <a:chOff x="589041" y="1219200"/>
            <a:chExt cx="10094976" cy="1280160"/>
          </a:xfrm>
        </p:grpSpPr>
        <p:sp>
          <p:nvSpPr>
            <p:cNvPr id="5" name="Shape 3"/>
            <p:cNvSpPr/>
            <p:nvPr/>
          </p:nvSpPr>
          <p:spPr>
            <a:xfrm>
              <a:off x="792480" y="1219200"/>
              <a:ext cx="9646920" cy="1280160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2C3E5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89041" y="1304544"/>
              <a:ext cx="10094976" cy="1072896"/>
            </a:xfrm>
            <a:prstGeom prst="rect">
              <a:avLst/>
            </a:prstGeom>
            <a:noFill/>
            <a:ln/>
          </p:spPr>
          <p:txBody>
            <a:bodyPr wrap="square" lIns="0" tIns="0" rIns="135467" bIns="0" rtlCol="0" anchor="ctr"/>
            <a:lstStyle/>
            <a:p>
              <a:pPr algn="ctr"/>
              <a:r>
                <a:rPr lang="ko-KR" altLang="en-US" sz="28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기존 자료로는 다루기 어려웠던 질문을 가능하게 하고</a:t>
              </a:r>
              <a:r>
                <a:rPr lang="en-US" altLang="ko-KR" sz="28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, </a:t>
              </a:r>
            </a:p>
            <a:p>
              <a:pPr algn="ctr"/>
              <a:r>
                <a:rPr lang="ko-KR" altLang="en-US" sz="2800" b="1" dirty="0">
                  <a:solidFill>
                    <a:srgbClr val="2C3E50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사회 현상을 더 세밀하고 정확하게 이해하게 해 주는 인프라</a:t>
              </a:r>
              <a:endParaRPr lang="en-US" sz="2800" b="1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792480" y="3230880"/>
            <a:ext cx="3413760" cy="2743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975360" y="3316224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D4A5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가치</a:t>
            </a:r>
            <a:endParaRPr lang="en-US" sz="2400" b="1" dirty="0"/>
          </a:p>
        </p:txBody>
      </p:sp>
      <p:sp>
        <p:nvSpPr>
          <p:cNvPr id="10" name="Text 8"/>
          <p:cNvSpPr/>
          <p:nvPr/>
        </p:nvSpPr>
        <p:spPr>
          <a:xfrm>
            <a:off x="9753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전수성과 연계성</a:t>
            </a:r>
            <a:endParaRPr lang="en-US" sz="2133" dirty="0"/>
          </a:p>
        </p:txBody>
      </p:sp>
      <p:sp>
        <p:nvSpPr>
          <p:cNvPr id="11" name="Shape 9"/>
          <p:cNvSpPr/>
          <p:nvPr/>
        </p:nvSpPr>
        <p:spPr>
          <a:xfrm>
            <a:off x="9753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975360" y="4267200"/>
            <a:ext cx="304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 err="1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행정동·소수</a:t>
            </a: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집단까지 분석 </a:t>
            </a:r>
            <a:endParaRPr lang="en-US" altLang="ko-KR" sz="1900" dirty="0">
              <a:solidFill>
                <a:srgbClr val="4A4A4A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연계를 통한 다양한 확장성</a:t>
            </a:r>
            <a:endParaRPr lang="en-US" altLang="ko-KR" sz="1900" dirty="0">
              <a:solidFill>
                <a:srgbClr val="4A4A4A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900" dirty="0">
              <a:solidFill>
                <a:srgbClr val="4A4A4A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장기간에 걸친 변화 추적</a:t>
            </a:r>
            <a:endParaRPr lang="ko-KR" alt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450080" y="3230880"/>
            <a:ext cx="3413760" cy="2743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4632960" y="3316224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4A5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329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관찰 범위와 활용 제약</a:t>
            </a:r>
            <a:endParaRPr lang="en-US" sz="2133" dirty="0"/>
          </a:p>
        </p:txBody>
      </p:sp>
      <p:sp>
        <p:nvSpPr>
          <p:cNvPr id="16" name="Shape 14"/>
          <p:cNvSpPr/>
          <p:nvPr/>
        </p:nvSpPr>
        <p:spPr>
          <a:xfrm>
            <a:off x="46329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4632960" y="4267200"/>
            <a:ext cx="323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‘</a:t>
            </a:r>
            <a:r>
              <a:rPr lang="ko-KR" altLang="en-US" sz="1900" dirty="0" err="1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누구’를</a:t>
            </a:r>
            <a:r>
              <a:rPr lang="ko-KR" altLang="en-US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 넘어 ‘왜’ </a:t>
            </a:r>
            <a:r>
              <a:rPr lang="en-US" altLang="ko-KR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(</a:t>
            </a:r>
            <a:r>
              <a:rPr lang="ko-KR" altLang="en-US" sz="1900" dirty="0" err="1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매커니즘</a:t>
            </a:r>
            <a:r>
              <a:rPr lang="en-US" altLang="ko-KR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1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" pitchFamily="34" charset="-120"/>
              </a:rPr>
              <a:t>민감 정보일수록 해상도 저하</a:t>
            </a:r>
            <a:endParaRPr lang="en-US" altLang="ko-KR" sz="1900" dirty="0">
              <a:solidFill>
                <a:srgbClr val="4A4A4A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900" dirty="0">
              <a:solidFill>
                <a:srgbClr val="4A4A4A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접근성과 분석 자원의 한계</a:t>
            </a:r>
            <a:endParaRPr lang="ko-KR" altLang="en-US" sz="1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7680" y="3230880"/>
            <a:ext cx="3413760" cy="2743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8290560" y="3316224"/>
            <a:ext cx="1828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4A5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가능성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90560" y="375513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 err="1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사회과학</a:t>
            </a:r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연구</a:t>
            </a:r>
            <a:r>
              <a:rPr 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 </a:t>
            </a:r>
            <a:r>
              <a:rPr lang="ko-KR" altLang="en-US" sz="2133" b="1" dirty="0">
                <a:solidFill>
                  <a:srgbClr val="2C3E5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인프라</a:t>
            </a:r>
            <a:endParaRPr lang="en-US" sz="2133" dirty="0"/>
          </a:p>
        </p:txBody>
      </p:sp>
      <p:sp>
        <p:nvSpPr>
          <p:cNvPr id="21" name="Shape 19"/>
          <p:cNvSpPr/>
          <p:nvPr/>
        </p:nvSpPr>
        <p:spPr>
          <a:xfrm>
            <a:off x="8290560" y="4169664"/>
            <a:ext cx="3048000" cy="2438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8290560" y="4267200"/>
            <a:ext cx="323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 변화 · 조사자료와 결합 </a:t>
            </a:r>
            <a:br>
              <a:rPr lang="en-US" altLang="ko-KR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r>
              <a:rPr lang="en-US" altLang="ko-KR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  <a:sym typeface="Wingdings" panose="05000000000000000000" pitchFamily="2" charset="2"/>
              </a:rPr>
              <a:t> </a:t>
            </a: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인과추론과 정책 평가</a:t>
            </a:r>
            <a:endParaRPr lang="en-US" altLang="ko-KR" sz="1900" dirty="0">
              <a:solidFill>
                <a:srgbClr val="4A4A4A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접근성과 연계 가능성의 확대 </a:t>
            </a:r>
            <a:br>
              <a:rPr lang="en-US" altLang="ko-KR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</a:t>
            </a:r>
            <a:r>
              <a:rPr lang="ko-KR" altLang="en-US" sz="1900" dirty="0">
                <a:solidFill>
                  <a:srgbClr val="4A4A4A"/>
                </a:solidFill>
                <a:latin typeface="NanumSquare" pitchFamily="34" charset="0"/>
                <a:ea typeface="NanumSquare" pitchFamily="34" charset="-122"/>
              </a:rPr>
              <a:t>더 큰 공공적 가치 창출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53BB810-7C92-5485-0A66-3BC59918A3E5}"/>
              </a:ext>
            </a:extLst>
          </p:cNvPr>
          <p:cNvSpPr txBox="1">
            <a:spLocks/>
          </p:cNvSpPr>
          <p:nvPr/>
        </p:nvSpPr>
        <p:spPr>
          <a:xfrm>
            <a:off x="335360" y="63370"/>
            <a:ext cx="10009112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나눔스퀘어" panose="020B0600000101010101" pitchFamily="50" charset="-127"/>
                <a:cs typeface="+mj-cs"/>
              </a:defRPr>
            </a:lvl1pPr>
          </a:lstStyle>
          <a:p>
            <a:pPr latinLnBrk="0"/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통계등록부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더 깊은 질문</a:t>
            </a:r>
            <a:r>
              <a:rPr lang="en-US" altLang="ko-KR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lang="ko-KR" altLang="en-US" sz="3600" b="1" spc="-1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더 높은 해상도</a:t>
            </a:r>
            <a:endParaRPr lang="ko-KR" altLang="ko-KR" sz="3600" b="1" spc="-1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914400" y="2072640"/>
            <a:ext cx="1036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감사합니다.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4876800" cy="4876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914400" y="3755136"/>
            <a:ext cx="853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최재성</a:t>
            </a:r>
            <a:endParaRPr lang="en-US" sz="2667" dirty="0"/>
          </a:p>
          <a:p>
            <a:r>
              <a:rPr lang="en-US" sz="2000" dirty="0">
                <a:solidFill>
                  <a:srgbClr val="AABB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성균관대학교 글로벌경제학과</a:t>
            </a:r>
            <a:endParaRPr lang="en-US" sz="2667" dirty="0"/>
          </a:p>
          <a:p>
            <a:r>
              <a:rPr lang="en-US" sz="2000" dirty="0">
                <a:solidFill>
                  <a:srgbClr val="D4A5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jaesungc@skku.edu</a:t>
            </a:r>
            <a:endParaRPr lang="en-US" sz="26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F57CE24D8250B4686A727239A1955D5" ma:contentTypeVersion="14" ma:contentTypeDescription="새 문서를 만듭니다." ma:contentTypeScope="" ma:versionID="11ddb80b6a7bebc925942520b2c5677f">
  <xsd:schema xmlns:xsd="http://www.w3.org/2001/XMLSchema" xmlns:xs="http://www.w3.org/2001/XMLSchema" xmlns:p="http://schemas.microsoft.com/office/2006/metadata/properties" xmlns:ns3="f9c49acb-8b68-4dd8-8fcc-e83407dc3702" targetNamespace="http://schemas.microsoft.com/office/2006/metadata/properties" ma:root="true" ma:fieldsID="2262edc276196c707404f060ca554bcd" ns3:_="">
    <xsd:import namespace="f9c49acb-8b68-4dd8-8fcc-e83407dc370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49acb-8b68-4dd8-8fcc-e83407dc37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c49acb-8b68-4dd8-8fcc-e83407dc3702" xsi:nil="true"/>
  </documentManagement>
</p:properties>
</file>

<file path=customXml/itemProps1.xml><?xml version="1.0" encoding="utf-8"?>
<ds:datastoreItem xmlns:ds="http://schemas.openxmlformats.org/officeDocument/2006/customXml" ds:itemID="{39010DD6-C1FA-4BE8-8A3B-D9376B07F7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92EF3D-A3EA-4294-9965-9D22C611A4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c49acb-8b68-4dd8-8fcc-e83407dc3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DD2953-7503-4BA4-94F8-F319B66BA3FA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f9c49acb-8b68-4dd8-8fcc-e83407dc370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15602</TotalTime>
  <Words>1874</Words>
  <Application>Microsoft Office PowerPoint</Application>
  <PresentationFormat>와이드스크린</PresentationFormat>
  <Paragraphs>261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Calibri Light</vt:lpstr>
      <vt:lpstr>Tahoma</vt:lpstr>
      <vt:lpstr>나눔스퀘어</vt:lpstr>
      <vt:lpstr>나눔스퀘어</vt:lpstr>
      <vt:lpstr>Arial</vt:lpstr>
      <vt:lpstr>나눔고딕 ExtraBold</vt:lpstr>
      <vt:lpstr>나눔스퀘어 ExtraBold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분석 자료 – 아동가구통계등록부</vt:lpstr>
      <vt:lpstr>분석 자료 – 취업통계등록부 (취업활동편)</vt:lpstr>
      <vt:lpstr>분석 결과 – 2023년 소득 분포</vt:lpstr>
      <vt:lpstr>분석 결과 – 행정동 내 소득 변화</vt:lpstr>
      <vt:lpstr>분석 결과 – 사회경제적 배경 변화</vt:lpstr>
      <vt:lpstr>학군지 이동 관련 가구 특성 검토</vt:lpstr>
      <vt:lpstr>분석 결과 – 주거지 이동 (2021 to 2022)</vt:lpstr>
      <vt:lpstr>PowerPoint 프레젠테이션</vt:lpstr>
      <vt:lpstr>연구배경 및 질문</vt:lpstr>
      <vt:lpstr>인구통계등록부 통합분석 DB 활용 불평등 지표 산출</vt:lpstr>
      <vt:lpstr>불평등 지표 비교 – 행정구 vs. 행정동</vt:lpstr>
      <vt:lpstr>불평등 지수 생성 – 공공임대주택 연구</vt:lpstr>
      <vt:lpstr>분석 결과 – 혼합단지 거주 선호 여부</vt:lpstr>
      <vt:lpstr>PowerPoint 프레젠테이션</vt:lpstr>
      <vt:lpstr>부메랑 키즈 현상의 계층적 양상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embers</dc:creator>
  <cp:lastModifiedBy>최재성</cp:lastModifiedBy>
  <cp:revision>1064</cp:revision>
  <cp:lastPrinted>2016-01-30T08:40:29Z</cp:lastPrinted>
  <dcterms:created xsi:type="dcterms:W3CDTF">2011-10-18T21:16:05Z</dcterms:created>
  <dcterms:modified xsi:type="dcterms:W3CDTF">2026-06-18T02:32:18Z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0x0101001F57CE24D8250B4686A727239A1955D5</vt:lpwstr>
  </property>
</Properties>
</file>